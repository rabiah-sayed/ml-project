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9.xml.rels" ContentType="application/vnd.openxmlformats-package.relationships+xml"/>
  <Override PartName="/ppt/_rels/presentation.xml.rels" ContentType="application/vnd.openxmlformats-package.relationship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_rels/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A55F14D-B309-4588-8237-CC3A3AFC159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F8D33F0-AC22-4E88-BCD1-65990F83EC3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CC9347D-629B-424F-AE1A-75764D5ABA2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C16B3B0-0400-466D-B29F-FF551065BBA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90E2AC1-8B16-423D-8564-FF436B80D31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08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n-GB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872F8B6-1522-40EC-8A0B-64473B64498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A11A696-618D-4A6A-82C5-CEF64452738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E18F16E-31C8-4262-9689-9364F826919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0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98F47FF-F7BE-468E-A553-68CA9672372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0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0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763F633-C1D6-4A8C-B105-EDDA69B142C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2A8DE7B-710C-4AE8-8F70-7B7711454B31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319280" y="160452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8028720" y="160452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4319280" y="368208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8028720" y="368208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08EBB08-B0B3-46C9-B4D6-5E72AF801D0C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GB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GB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GB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GB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918842C-E956-4B51-914C-8554B694FA56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GB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edit the title text format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30f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ctangle 1"/>
          <p:cNvSpPr/>
          <p:nvPr/>
        </p:nvSpPr>
        <p:spPr>
          <a:xfrm>
            <a:off x="0" y="0"/>
            <a:ext cx="127800" cy="6857640"/>
          </a:xfrm>
          <a:prstGeom prst="rect">
            <a:avLst/>
          </a:prstGeom>
          <a:solidFill>
            <a:srgbClr val="7c3ae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2" name="TextBox 2"/>
          <p:cNvSpPr/>
          <p:nvPr/>
        </p:nvSpPr>
        <p:spPr>
          <a:xfrm>
            <a:off x="822960" y="1554480"/>
            <a:ext cx="8229240" cy="21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a78bfa"/>
                </a:solidFill>
                <a:latin typeface="Calibri"/>
              </a:rPr>
              <a:t>SEMESTER PROJECT · MACHINE LEARNING</a:t>
            </a:r>
            <a:endParaRPr b="0" lang="en-GB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" name="TextBox 3"/>
          <p:cNvSpPr/>
          <p:nvPr/>
        </p:nvSpPr>
        <p:spPr>
          <a:xfrm>
            <a:off x="777240" y="1965960"/>
            <a:ext cx="10058040" cy="97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6400" spc="-1" strike="noStrike">
                <a:solidFill>
                  <a:srgbClr val="f1eefb"/>
                </a:solidFill>
                <a:latin typeface="Georgia"/>
              </a:rPr>
              <a:t>PriceSense</a:t>
            </a:r>
            <a:endParaRPr b="0" lang="en-GB" sz="6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" name="TextBox 4"/>
          <p:cNvSpPr/>
          <p:nvPr/>
        </p:nvSpPr>
        <p:spPr>
          <a:xfrm>
            <a:off x="822960" y="3063240"/>
            <a:ext cx="9600840" cy="33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i="1" lang="en-US" sz="2200" spc="-1" strike="noStrike">
                <a:solidFill>
                  <a:srgbClr val="b7afd6"/>
                </a:solidFill>
                <a:latin typeface="Calibri"/>
              </a:rPr>
              <a:t>An ML-Driven Predictive Shopping Platform</a:t>
            </a:r>
            <a:endParaRPr b="0" lang="en-GB" sz="22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45" name="Connector 5"/>
          <p:cNvCxnSpPr/>
          <p:nvPr/>
        </p:nvCxnSpPr>
        <p:spPr>
          <a:xfrm>
            <a:off x="7863840" y="3108960"/>
            <a:ext cx="3657960" cy="360"/>
          </a:xfrm>
          <a:prstGeom prst="straightConnector1">
            <a:avLst/>
          </a:prstGeom>
          <a:ln w="12700">
            <a:solidFill>
              <a:srgbClr val="3a305c"/>
            </a:solidFill>
            <a:round/>
          </a:ln>
        </p:spPr>
      </p:cxnSp>
      <p:cxnSp>
        <p:nvCxnSpPr>
          <p:cNvPr id="46" name="Connector 6"/>
          <p:cNvCxnSpPr/>
          <p:nvPr/>
        </p:nvCxnSpPr>
        <p:spPr>
          <a:xfrm flipV="1">
            <a:off x="7863840" y="2823120"/>
            <a:ext cx="304920" cy="114480"/>
          </a:xfrm>
          <a:prstGeom prst="straightConnector1">
            <a:avLst/>
          </a:prstGeom>
          <a:ln w="28575">
            <a:solidFill>
              <a:srgbClr val="7c3aed"/>
            </a:solidFill>
            <a:round/>
          </a:ln>
        </p:spPr>
      </p:cxnSp>
      <p:cxnSp>
        <p:nvCxnSpPr>
          <p:cNvPr id="47" name="Connector 7"/>
          <p:cNvCxnSpPr/>
          <p:nvPr/>
        </p:nvCxnSpPr>
        <p:spPr>
          <a:xfrm>
            <a:off x="8168400" y="2823120"/>
            <a:ext cx="305280" cy="171720"/>
          </a:xfrm>
          <a:prstGeom prst="straightConnector1">
            <a:avLst/>
          </a:prstGeom>
          <a:ln w="28575">
            <a:solidFill>
              <a:srgbClr val="7c3aed"/>
            </a:solidFill>
            <a:round/>
          </a:ln>
        </p:spPr>
      </p:cxnSp>
      <p:cxnSp>
        <p:nvCxnSpPr>
          <p:cNvPr id="48" name="Connector 8"/>
          <p:cNvCxnSpPr/>
          <p:nvPr/>
        </p:nvCxnSpPr>
        <p:spPr>
          <a:xfrm flipV="1">
            <a:off x="8473320" y="2594520"/>
            <a:ext cx="305280" cy="400320"/>
          </a:xfrm>
          <a:prstGeom prst="straightConnector1">
            <a:avLst/>
          </a:prstGeom>
          <a:ln w="28575">
            <a:solidFill>
              <a:srgbClr val="7c3aed"/>
            </a:solidFill>
            <a:round/>
          </a:ln>
        </p:spPr>
      </p:cxnSp>
      <p:cxnSp>
        <p:nvCxnSpPr>
          <p:cNvPr id="49" name="Connector 9"/>
          <p:cNvCxnSpPr/>
          <p:nvPr/>
        </p:nvCxnSpPr>
        <p:spPr>
          <a:xfrm>
            <a:off x="8778240" y="2594520"/>
            <a:ext cx="304920" cy="114480"/>
          </a:xfrm>
          <a:prstGeom prst="straightConnector1">
            <a:avLst/>
          </a:prstGeom>
          <a:ln w="28575">
            <a:solidFill>
              <a:srgbClr val="7c3aed"/>
            </a:solidFill>
            <a:round/>
          </a:ln>
        </p:spPr>
      </p:cxnSp>
      <p:cxnSp>
        <p:nvCxnSpPr>
          <p:cNvPr id="50" name="Connector 10"/>
          <p:cNvCxnSpPr/>
          <p:nvPr/>
        </p:nvCxnSpPr>
        <p:spPr>
          <a:xfrm flipV="1">
            <a:off x="9082800" y="2365920"/>
            <a:ext cx="305280" cy="343080"/>
          </a:xfrm>
          <a:prstGeom prst="straightConnector1">
            <a:avLst/>
          </a:prstGeom>
          <a:ln w="28575">
            <a:solidFill>
              <a:srgbClr val="7c3aed"/>
            </a:solidFill>
            <a:round/>
          </a:ln>
        </p:spPr>
      </p:cxnSp>
      <p:cxnSp>
        <p:nvCxnSpPr>
          <p:cNvPr id="51" name="Connector 11"/>
          <p:cNvCxnSpPr/>
          <p:nvPr/>
        </p:nvCxnSpPr>
        <p:spPr>
          <a:xfrm>
            <a:off x="9387720" y="2365920"/>
            <a:ext cx="305280" cy="80280"/>
          </a:xfrm>
          <a:prstGeom prst="straightConnector1">
            <a:avLst/>
          </a:prstGeom>
          <a:ln w="28575">
            <a:solidFill>
              <a:srgbClr val="7c3aed"/>
            </a:solidFill>
            <a:round/>
          </a:ln>
        </p:spPr>
      </p:cxnSp>
      <p:cxnSp>
        <p:nvCxnSpPr>
          <p:cNvPr id="52" name="Connector 12"/>
          <p:cNvCxnSpPr/>
          <p:nvPr/>
        </p:nvCxnSpPr>
        <p:spPr>
          <a:xfrm flipV="1">
            <a:off x="9692640" y="2217240"/>
            <a:ext cx="304920" cy="228960"/>
          </a:xfrm>
          <a:prstGeom prst="straightConnector1">
            <a:avLst/>
          </a:prstGeom>
          <a:ln w="28575">
            <a:solidFill>
              <a:srgbClr val="4bd4e3"/>
            </a:solidFill>
            <a:prstDash val="dash"/>
            <a:round/>
          </a:ln>
        </p:spPr>
      </p:cxnSp>
      <p:cxnSp>
        <p:nvCxnSpPr>
          <p:cNvPr id="53" name="Connector 13"/>
          <p:cNvCxnSpPr/>
          <p:nvPr/>
        </p:nvCxnSpPr>
        <p:spPr>
          <a:xfrm flipV="1">
            <a:off x="9997200" y="2103120"/>
            <a:ext cx="305280" cy="114480"/>
          </a:xfrm>
          <a:prstGeom prst="straightConnector1">
            <a:avLst/>
          </a:prstGeom>
          <a:ln w="28575">
            <a:solidFill>
              <a:srgbClr val="4bd4e3"/>
            </a:solidFill>
            <a:prstDash val="dash"/>
            <a:round/>
          </a:ln>
        </p:spPr>
      </p:cxnSp>
      <p:cxnSp>
        <p:nvCxnSpPr>
          <p:cNvPr id="54" name="Connector 14"/>
          <p:cNvCxnSpPr/>
          <p:nvPr/>
        </p:nvCxnSpPr>
        <p:spPr>
          <a:xfrm>
            <a:off x="10302120" y="2103120"/>
            <a:ext cx="305280" cy="183240"/>
          </a:xfrm>
          <a:prstGeom prst="straightConnector1">
            <a:avLst/>
          </a:prstGeom>
          <a:ln w="28575">
            <a:solidFill>
              <a:srgbClr val="4bd4e3"/>
            </a:solidFill>
            <a:prstDash val="dash"/>
            <a:round/>
          </a:ln>
        </p:spPr>
      </p:cxnSp>
      <p:cxnSp>
        <p:nvCxnSpPr>
          <p:cNvPr id="55" name="Connector 15"/>
          <p:cNvCxnSpPr/>
          <p:nvPr/>
        </p:nvCxnSpPr>
        <p:spPr>
          <a:xfrm flipV="1">
            <a:off x="10607040" y="1988640"/>
            <a:ext cx="304920" cy="297720"/>
          </a:xfrm>
          <a:prstGeom prst="straightConnector1">
            <a:avLst/>
          </a:prstGeom>
          <a:ln w="28575">
            <a:solidFill>
              <a:srgbClr val="4bd4e3"/>
            </a:solidFill>
            <a:prstDash val="dash"/>
            <a:round/>
          </a:ln>
        </p:spPr>
      </p:cxnSp>
      <p:cxnSp>
        <p:nvCxnSpPr>
          <p:cNvPr id="56" name="Connector 16"/>
          <p:cNvCxnSpPr/>
          <p:nvPr/>
        </p:nvCxnSpPr>
        <p:spPr>
          <a:xfrm>
            <a:off x="10911600" y="1988640"/>
            <a:ext cx="305280" cy="183240"/>
          </a:xfrm>
          <a:prstGeom prst="straightConnector1">
            <a:avLst/>
          </a:prstGeom>
          <a:ln w="28575">
            <a:solidFill>
              <a:srgbClr val="4bd4e3"/>
            </a:solidFill>
            <a:prstDash val="dash"/>
            <a:round/>
          </a:ln>
        </p:spPr>
      </p:cxnSp>
      <p:cxnSp>
        <p:nvCxnSpPr>
          <p:cNvPr id="57" name="Connector 17"/>
          <p:cNvCxnSpPr/>
          <p:nvPr/>
        </p:nvCxnSpPr>
        <p:spPr>
          <a:xfrm flipV="1">
            <a:off x="11216520" y="1908720"/>
            <a:ext cx="305280" cy="263160"/>
          </a:xfrm>
          <a:prstGeom prst="straightConnector1">
            <a:avLst/>
          </a:prstGeom>
          <a:ln w="28575">
            <a:solidFill>
              <a:srgbClr val="4bd4e3"/>
            </a:solidFill>
            <a:prstDash val="dash"/>
            <a:round/>
          </a:ln>
        </p:spPr>
      </p:cxnSp>
      <p:sp>
        <p:nvSpPr>
          <p:cNvPr id="58" name="Rectangle 18"/>
          <p:cNvSpPr/>
          <p:nvPr/>
        </p:nvSpPr>
        <p:spPr>
          <a:xfrm>
            <a:off x="822960" y="3977640"/>
            <a:ext cx="5668920" cy="18720"/>
          </a:xfrm>
          <a:prstGeom prst="rect">
            <a:avLst/>
          </a:prstGeom>
          <a:solidFill>
            <a:srgbClr val="3a305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5920" bIns="-259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9" name="TextBox 19"/>
          <p:cNvSpPr/>
          <p:nvPr/>
        </p:nvSpPr>
        <p:spPr>
          <a:xfrm>
            <a:off x="822960" y="4206240"/>
            <a:ext cx="2742840" cy="18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8a81ad"/>
                </a:solidFill>
                <a:latin typeface="Calibri"/>
              </a:rPr>
              <a:t>TEAM</a:t>
            </a:r>
            <a:endParaRPr b="0" lang="en-GB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" name="TextBox 20"/>
          <p:cNvSpPr/>
          <p:nvPr/>
        </p:nvSpPr>
        <p:spPr>
          <a:xfrm>
            <a:off x="822960" y="4572000"/>
            <a:ext cx="6400440" cy="121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12000"/>
              </a:lnSpc>
              <a:spcAft>
                <a:spcPts val="1001"/>
              </a:spcAft>
            </a:pPr>
            <a:r>
              <a:rPr b="1" lang="en-US" sz="1700" spc="-1" strike="noStrike">
                <a:solidFill>
                  <a:srgbClr val="4bd4e3"/>
                </a:solidFill>
                <a:latin typeface="Calibri"/>
              </a:rPr>
              <a:t>-  </a:t>
            </a:r>
            <a:r>
              <a:rPr b="0" lang="en-US" sz="1700" spc="-1" strike="noStrike">
                <a:solidFill>
                  <a:srgbClr val="f1eefb"/>
                </a:solidFill>
                <a:latin typeface="Calibri"/>
              </a:rPr>
              <a:t>Rabiah Mateen Sayed — 24030124118</a:t>
            </a:r>
            <a:endParaRPr b="0" lang="en-GB" sz="17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12000"/>
              </a:lnSpc>
              <a:spcAft>
                <a:spcPts val="1001"/>
              </a:spcAft>
            </a:pPr>
            <a:r>
              <a:rPr b="1" lang="en-US" sz="1700" spc="-1" strike="noStrike">
                <a:solidFill>
                  <a:srgbClr val="4bd4e3"/>
                </a:solidFill>
                <a:latin typeface="Calibri"/>
              </a:rPr>
              <a:t>-  </a:t>
            </a:r>
            <a:r>
              <a:rPr b="0" lang="en-US" sz="1700" spc="-1" strike="noStrike">
                <a:solidFill>
                  <a:srgbClr val="f1eefb"/>
                </a:solidFill>
                <a:latin typeface="Calibri"/>
              </a:rPr>
              <a:t>Rajalakshmi Muttu Verrapan — 24030124123</a:t>
            </a:r>
            <a:endParaRPr b="0" lang="en-GB" sz="17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12000"/>
              </a:lnSpc>
              <a:spcAft>
                <a:spcPts val="1001"/>
              </a:spcAft>
            </a:pPr>
            <a:r>
              <a:rPr b="1" lang="en-US" sz="1700" spc="-1" strike="noStrike">
                <a:solidFill>
                  <a:srgbClr val="4bd4e3"/>
                </a:solidFill>
                <a:latin typeface="Calibri"/>
              </a:rPr>
              <a:t>-  </a:t>
            </a:r>
            <a:r>
              <a:rPr b="0" lang="en-US" sz="1700" spc="-1" strike="noStrike">
                <a:solidFill>
                  <a:srgbClr val="f1eefb"/>
                </a:solidFill>
                <a:latin typeface="Calibri"/>
              </a:rPr>
              <a:t>Sahil Shukla — 24030124135</a:t>
            </a:r>
            <a:endParaRPr b="0" lang="en-GB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1" name="TextBox 21"/>
          <p:cNvSpPr/>
          <p:nvPr/>
        </p:nvSpPr>
        <p:spPr>
          <a:xfrm>
            <a:off x="822960" y="6172200"/>
            <a:ext cx="7314840" cy="19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8a81ad"/>
                </a:solidFill>
                <a:latin typeface="Calibri"/>
              </a:rPr>
              <a:t>Machine Learning · SICSR </a:t>
            </a:r>
            <a:endParaRPr b="0" lang="en-GB" sz="13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30f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TextBox 1"/>
          <p:cNvSpPr/>
          <p:nvPr/>
        </p:nvSpPr>
        <p:spPr>
          <a:xfrm>
            <a:off x="640080" y="384120"/>
            <a:ext cx="7314840" cy="19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a78bfa"/>
                </a:solidFill>
                <a:latin typeface="Calibri"/>
              </a:rPr>
              <a:t>INTRODUCTION</a:t>
            </a:r>
            <a:endParaRPr b="0" lang="en-GB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3" name="TextBox 2"/>
          <p:cNvSpPr/>
          <p:nvPr/>
        </p:nvSpPr>
        <p:spPr>
          <a:xfrm>
            <a:off x="621720" y="685800"/>
            <a:ext cx="10515240" cy="48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200" spc="-1" strike="noStrike">
                <a:solidFill>
                  <a:srgbClr val="f1eefb"/>
                </a:solidFill>
                <a:latin typeface="Georgia"/>
              </a:rPr>
              <a:t>What is PriceSense?</a:t>
            </a:r>
            <a:endParaRPr b="0" lang="en-GB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4" name="Rectangle 3"/>
          <p:cNvSpPr/>
          <p:nvPr/>
        </p:nvSpPr>
        <p:spPr>
          <a:xfrm>
            <a:off x="640080" y="1371600"/>
            <a:ext cx="1005480" cy="37800"/>
          </a:xfrm>
          <a:prstGeom prst="rect">
            <a:avLst/>
          </a:prstGeom>
          <a:solidFill>
            <a:srgbClr val="7c3ae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6840" bIns="-68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5" name="TextBox 4"/>
          <p:cNvSpPr/>
          <p:nvPr/>
        </p:nvSpPr>
        <p:spPr>
          <a:xfrm>
            <a:off x="640080" y="6473880"/>
            <a:ext cx="2742840" cy="16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8a81ad"/>
                </a:solidFill>
                <a:latin typeface="Calibri"/>
              </a:rPr>
              <a:t>PriceSense</a:t>
            </a:r>
            <a:endParaRPr b="0" lang="en-GB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6" name="TextBox 5"/>
          <p:cNvSpPr/>
          <p:nvPr/>
        </p:nvSpPr>
        <p:spPr>
          <a:xfrm>
            <a:off x="10881360" y="6473880"/>
            <a:ext cx="914040" cy="16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8a81ad"/>
                </a:solidFill>
                <a:latin typeface="Calibri"/>
              </a:rPr>
              <a:t>02 / 11</a:t>
            </a:r>
            <a:endParaRPr b="0" lang="en-GB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7" name="TextBox 6"/>
          <p:cNvSpPr/>
          <p:nvPr/>
        </p:nvSpPr>
        <p:spPr>
          <a:xfrm>
            <a:off x="640080" y="1828800"/>
            <a:ext cx="10606680" cy="304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12000"/>
              </a:lnSpc>
              <a:spcAft>
                <a:spcPts val="1800"/>
              </a:spcAft>
            </a:pPr>
            <a:r>
              <a:rPr b="1" lang="en-US" sz="1900" spc="-1" strike="noStrike">
                <a:solidFill>
                  <a:srgbClr val="a78bfa"/>
                </a:solidFill>
                <a:latin typeface="Calibri"/>
              </a:rPr>
              <a:t>-  </a:t>
            </a:r>
            <a:r>
              <a:rPr b="1" lang="en-US" sz="1900" spc="-1" strike="noStrike">
                <a:solidFill>
                  <a:srgbClr val="f1eefb"/>
                </a:solidFill>
                <a:latin typeface="Calibri"/>
              </a:rPr>
              <a:t>The idea. </a:t>
            </a:r>
            <a:r>
              <a:rPr b="0" lang="en-US" sz="1900" spc="-1" strike="noStrike">
                <a:solidFill>
                  <a:srgbClr val="f1eefb"/>
                </a:solidFill>
                <a:latin typeface="Calibri"/>
              </a:rPr>
              <a:t>Shoppers set a target price on a product instead of buying immediately.</a:t>
            </a:r>
            <a:endParaRPr b="0" lang="en-GB" sz="19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12000"/>
              </a:lnSpc>
              <a:spcAft>
                <a:spcPts val="1800"/>
              </a:spcAft>
            </a:pPr>
            <a:r>
              <a:rPr b="1" lang="en-US" sz="1900" spc="-1" strike="noStrike">
                <a:solidFill>
                  <a:srgbClr val="a78bfa"/>
                </a:solidFill>
                <a:latin typeface="Calibri"/>
              </a:rPr>
              <a:t>-  </a:t>
            </a:r>
            <a:r>
              <a:rPr b="1" lang="en-US" sz="1900" spc="-1" strike="noStrike">
                <a:solidFill>
                  <a:srgbClr val="f1eefb"/>
                </a:solidFill>
                <a:latin typeface="Calibri"/>
              </a:rPr>
              <a:t>The engine. </a:t>
            </a:r>
            <a:r>
              <a:rPr b="0" lang="en-US" sz="1900" spc="-1" strike="noStrike">
                <a:solidFill>
                  <a:srgbClr val="f1eefb"/>
                </a:solidFill>
                <a:latin typeface="Calibri"/>
              </a:rPr>
              <a:t>A Prophet-based forecasting pipeline continuously predicts where each product's price is headed.</a:t>
            </a:r>
            <a:endParaRPr b="0" lang="en-GB" sz="19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12000"/>
              </a:lnSpc>
              <a:spcAft>
                <a:spcPts val="1800"/>
              </a:spcAft>
            </a:pPr>
            <a:r>
              <a:rPr b="1" lang="en-US" sz="1900" spc="-1" strike="noStrike">
                <a:solidFill>
                  <a:srgbClr val="a78bfa"/>
                </a:solidFill>
                <a:latin typeface="Calibri"/>
              </a:rPr>
              <a:t>-  </a:t>
            </a:r>
            <a:r>
              <a:rPr b="1" lang="en-US" sz="1900" spc="-1" strike="noStrike">
                <a:solidFill>
                  <a:srgbClr val="f1eefb"/>
                </a:solidFill>
                <a:latin typeface="Calibri"/>
              </a:rPr>
              <a:t>The payoff. </a:t>
            </a:r>
            <a:r>
              <a:rPr b="0" lang="en-US" sz="1900" spc="-1" strike="noStrike">
                <a:solidFill>
                  <a:srgbClr val="f1eefb"/>
                </a:solidFill>
                <a:latin typeface="Calibri"/>
              </a:rPr>
              <a:t>The moment the predicted or actual price reaches the target, an order is placed automatically — with a 48-hour window to cancel.</a:t>
            </a:r>
            <a:endParaRPr b="0" lang="en-GB" sz="19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12000"/>
              </a:lnSpc>
              <a:spcAft>
                <a:spcPts val="1800"/>
              </a:spcAft>
            </a:pPr>
            <a:r>
              <a:rPr b="1" lang="en-US" sz="1900" spc="-1" strike="noStrike">
                <a:solidFill>
                  <a:srgbClr val="a78bfa"/>
                </a:solidFill>
                <a:latin typeface="Calibri"/>
              </a:rPr>
              <a:t>-  </a:t>
            </a:r>
            <a:r>
              <a:rPr b="1" lang="en-US" sz="1900" spc="-1" strike="noStrike">
                <a:solidFill>
                  <a:srgbClr val="f1eefb"/>
                </a:solidFill>
                <a:latin typeface="Calibri"/>
              </a:rPr>
              <a:t>The scope. </a:t>
            </a:r>
            <a:r>
              <a:rPr b="0" lang="en-US" sz="1900" spc="-1" strike="noStrike">
                <a:solidFill>
                  <a:srgbClr val="f1eefb"/>
                </a:solidFill>
                <a:latin typeface="Calibri"/>
              </a:rPr>
              <a:t>A full Django e-commerce shell (catalog, cart, wallet, orders) exists to give the ML pipeline real data to operate on — the forecasting system is the graded deliverable.</a:t>
            </a:r>
            <a:endParaRPr b="0" lang="en-GB" sz="19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30f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TextBox 1"/>
          <p:cNvSpPr/>
          <p:nvPr/>
        </p:nvSpPr>
        <p:spPr>
          <a:xfrm>
            <a:off x="640080" y="384120"/>
            <a:ext cx="7314840" cy="19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a78bfa"/>
                </a:solidFill>
                <a:latin typeface="Calibri"/>
              </a:rPr>
              <a:t>PROBLEM STATEMENT</a:t>
            </a:r>
            <a:endParaRPr b="0" lang="en-GB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9" name="TextBox 2"/>
          <p:cNvSpPr/>
          <p:nvPr/>
        </p:nvSpPr>
        <p:spPr>
          <a:xfrm>
            <a:off x="621720" y="685800"/>
            <a:ext cx="10515240" cy="48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200" spc="-1" strike="noStrike">
                <a:solidFill>
                  <a:srgbClr val="f1eefb"/>
                </a:solidFill>
                <a:latin typeface="Georgia"/>
              </a:rPr>
              <a:t>Why this needed solving</a:t>
            </a:r>
            <a:endParaRPr b="0" lang="en-GB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0" name="Rectangle 3"/>
          <p:cNvSpPr/>
          <p:nvPr/>
        </p:nvSpPr>
        <p:spPr>
          <a:xfrm>
            <a:off x="640080" y="1371600"/>
            <a:ext cx="1005480" cy="37800"/>
          </a:xfrm>
          <a:prstGeom prst="rect">
            <a:avLst/>
          </a:prstGeom>
          <a:solidFill>
            <a:srgbClr val="7c3ae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6840" bIns="-68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1" name="TextBox 4"/>
          <p:cNvSpPr/>
          <p:nvPr/>
        </p:nvSpPr>
        <p:spPr>
          <a:xfrm>
            <a:off x="640080" y="6473880"/>
            <a:ext cx="2742840" cy="16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8a81ad"/>
                </a:solidFill>
                <a:latin typeface="Calibri"/>
              </a:rPr>
              <a:t>PriceSense</a:t>
            </a:r>
            <a:endParaRPr b="0" lang="en-GB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2" name="TextBox 5"/>
          <p:cNvSpPr/>
          <p:nvPr/>
        </p:nvSpPr>
        <p:spPr>
          <a:xfrm>
            <a:off x="10881360" y="6473880"/>
            <a:ext cx="914040" cy="16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8a81ad"/>
                </a:solidFill>
                <a:latin typeface="Calibri"/>
              </a:rPr>
              <a:t>03 / 11</a:t>
            </a:r>
            <a:endParaRPr b="0" lang="en-GB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3" name="TextBox 6"/>
          <p:cNvSpPr/>
          <p:nvPr/>
        </p:nvSpPr>
        <p:spPr>
          <a:xfrm>
            <a:off x="640080" y="1828800"/>
            <a:ext cx="10606680" cy="329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12000"/>
              </a:lnSpc>
              <a:spcAft>
                <a:spcPts val="1599"/>
              </a:spcAft>
            </a:pPr>
            <a:r>
              <a:rPr b="1" lang="en-US" sz="1900" spc="-1" strike="noStrike">
                <a:solidFill>
                  <a:srgbClr val="a78bfa"/>
                </a:solidFill>
                <a:latin typeface="Calibri"/>
              </a:rPr>
              <a:t>-  </a:t>
            </a:r>
            <a:r>
              <a:rPr b="0" lang="en-US" sz="1900" spc="-1" strike="noStrike">
                <a:solidFill>
                  <a:srgbClr val="f1eefb"/>
                </a:solidFill>
                <a:latin typeface="Calibri"/>
              </a:rPr>
              <a:t>Online prices fluctuate constantly (seasonal demand, flash sales, restocking) — manually tracking a product to catch the right moment is tedious and unreliable.</a:t>
            </a:r>
            <a:endParaRPr b="0" lang="en-GB" sz="19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12000"/>
              </a:lnSpc>
              <a:spcAft>
                <a:spcPts val="1599"/>
              </a:spcAft>
            </a:pPr>
            <a:r>
              <a:rPr b="1" lang="en-US" sz="1900" spc="-1" strike="noStrike">
                <a:solidFill>
                  <a:srgbClr val="a78bfa"/>
                </a:solidFill>
                <a:latin typeface="Calibri"/>
              </a:rPr>
              <a:t>-  </a:t>
            </a:r>
            <a:r>
              <a:rPr b="0" lang="en-US" sz="1900" spc="-1" strike="noStrike">
                <a:solidFill>
                  <a:srgbClr val="f1eefb"/>
                </a:solidFill>
                <a:latin typeface="Calibri"/>
              </a:rPr>
              <a:t>Most e-commerce platforms show a price history at best; none forecast where a price is headed or act on a shopper's behalf.</a:t>
            </a:r>
            <a:endParaRPr b="0" lang="en-GB" sz="19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12000"/>
              </a:lnSpc>
              <a:spcAft>
                <a:spcPts val="1599"/>
              </a:spcAft>
            </a:pPr>
            <a:r>
              <a:rPr b="1" lang="en-US" sz="1900" spc="-1" strike="noStrike">
                <a:solidFill>
                  <a:srgbClr val="a78bfa"/>
                </a:solidFill>
                <a:latin typeface="Calibri"/>
              </a:rPr>
              <a:t>-  </a:t>
            </a:r>
            <a:r>
              <a:rPr b="0" lang="en-US" sz="1900" spc="-1" strike="noStrike">
                <a:solidFill>
                  <a:srgbClr val="f1eefb"/>
                </a:solidFill>
                <a:latin typeface="Calibri"/>
              </a:rPr>
              <a:t>Existing "price drop alert" tools are purely reactive — they notify after a drop happens, with no predictive signal and no automatic purchase.</a:t>
            </a:r>
            <a:endParaRPr b="0" lang="en-GB" sz="19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12000"/>
              </a:lnSpc>
              <a:spcAft>
                <a:spcPts val="1599"/>
              </a:spcAft>
            </a:pPr>
            <a:r>
              <a:rPr b="1" lang="en-US" sz="1900" spc="-1" strike="noStrike">
                <a:solidFill>
                  <a:srgbClr val="a78bfa"/>
                </a:solidFill>
                <a:latin typeface="Calibri"/>
              </a:rPr>
              <a:t>-  </a:t>
            </a:r>
            <a:r>
              <a:rPr b="0" lang="en-US" sz="1900" spc="-1" strike="noStrike">
                <a:solidFill>
                  <a:srgbClr val="f1eefb"/>
                </a:solidFill>
                <a:latin typeface="Calibri"/>
              </a:rPr>
              <a:t>There is no accessible way for an everyday shopper to get a probability-backed answer to: "how likely is this to hit my price soon?"</a:t>
            </a:r>
            <a:endParaRPr b="0" lang="en-GB" sz="19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30f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TextBox 1"/>
          <p:cNvSpPr/>
          <p:nvPr/>
        </p:nvSpPr>
        <p:spPr>
          <a:xfrm>
            <a:off x="640080" y="384120"/>
            <a:ext cx="7314840" cy="19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a78bfa"/>
                </a:solidFill>
                <a:latin typeface="Calibri"/>
              </a:rPr>
              <a:t>OBJECTIVE</a:t>
            </a:r>
            <a:endParaRPr b="0" lang="en-GB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5" name="TextBox 2"/>
          <p:cNvSpPr/>
          <p:nvPr/>
        </p:nvSpPr>
        <p:spPr>
          <a:xfrm>
            <a:off x="621720" y="685800"/>
            <a:ext cx="10515240" cy="48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200" spc="-1" strike="noStrike">
                <a:solidFill>
                  <a:srgbClr val="f1eefb"/>
                </a:solidFill>
                <a:latin typeface="Georgia"/>
              </a:rPr>
              <a:t>What the project set out to build</a:t>
            </a:r>
            <a:endParaRPr b="0" lang="en-GB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6" name="Rectangle 3"/>
          <p:cNvSpPr/>
          <p:nvPr/>
        </p:nvSpPr>
        <p:spPr>
          <a:xfrm>
            <a:off x="640080" y="1371600"/>
            <a:ext cx="1005480" cy="37800"/>
          </a:xfrm>
          <a:prstGeom prst="rect">
            <a:avLst/>
          </a:prstGeom>
          <a:solidFill>
            <a:srgbClr val="7c3ae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6840" bIns="-68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7" name="TextBox 4"/>
          <p:cNvSpPr/>
          <p:nvPr/>
        </p:nvSpPr>
        <p:spPr>
          <a:xfrm>
            <a:off x="640080" y="6473880"/>
            <a:ext cx="2742840" cy="16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8a81ad"/>
                </a:solidFill>
                <a:latin typeface="Calibri"/>
              </a:rPr>
              <a:t>PriceSense</a:t>
            </a:r>
            <a:endParaRPr b="0" lang="en-GB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8" name="TextBox 5"/>
          <p:cNvSpPr/>
          <p:nvPr/>
        </p:nvSpPr>
        <p:spPr>
          <a:xfrm>
            <a:off x="10881360" y="6473880"/>
            <a:ext cx="914040" cy="16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8a81ad"/>
                </a:solidFill>
                <a:latin typeface="Calibri"/>
              </a:rPr>
              <a:t>04 / 11</a:t>
            </a:r>
            <a:endParaRPr b="0" lang="en-GB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9" name="TextBox 6"/>
          <p:cNvSpPr/>
          <p:nvPr/>
        </p:nvSpPr>
        <p:spPr>
          <a:xfrm>
            <a:off x="640080" y="1828800"/>
            <a:ext cx="10606680" cy="329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12000"/>
              </a:lnSpc>
              <a:spcAft>
                <a:spcPts val="1599"/>
              </a:spcAft>
            </a:pPr>
            <a:r>
              <a:rPr b="1" lang="en-US" sz="1900" spc="-1" strike="noStrike">
                <a:solidFill>
                  <a:srgbClr val="a78bfa"/>
                </a:solidFill>
                <a:latin typeface="Calibri"/>
              </a:rPr>
              <a:t>-  </a:t>
            </a:r>
            <a:r>
              <a:rPr b="0" lang="en-US" sz="1900" spc="-1" strike="noStrike">
                <a:solidFill>
                  <a:srgbClr val="f1eefb"/>
                </a:solidFill>
                <a:latin typeface="Calibri"/>
              </a:rPr>
              <a:t>Build a time-series forecasting pipeline that learns each product's real price behaviour (trend + seasonality), not just logs it.</a:t>
            </a:r>
            <a:endParaRPr b="0" lang="en-GB" sz="19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12000"/>
              </a:lnSpc>
              <a:spcAft>
                <a:spcPts val="1599"/>
              </a:spcAft>
            </a:pPr>
            <a:r>
              <a:rPr b="1" lang="en-US" sz="1900" spc="-1" strike="noStrike">
                <a:solidFill>
                  <a:srgbClr val="a78bfa"/>
                </a:solidFill>
                <a:latin typeface="Calibri"/>
              </a:rPr>
              <a:t>-  </a:t>
            </a:r>
            <a:r>
              <a:rPr b="0" lang="en-US" sz="1900" spc="-1" strike="noStrike">
                <a:solidFill>
                  <a:srgbClr val="f1eefb"/>
                </a:solidFill>
                <a:latin typeface="Calibri"/>
              </a:rPr>
              <a:t>Evaluate that pipeline honestly — against a naive baseline and a second real model, with cross-validation — rather than reporting accuracy in isolation.</a:t>
            </a:r>
            <a:endParaRPr b="0" lang="en-GB" sz="19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12000"/>
              </a:lnSpc>
              <a:spcAft>
                <a:spcPts val="1599"/>
              </a:spcAft>
            </a:pPr>
            <a:r>
              <a:rPr b="1" lang="en-US" sz="1900" spc="-1" strike="noStrike">
                <a:solidFill>
                  <a:srgbClr val="a78bfa"/>
                </a:solidFill>
                <a:latin typeface="Calibri"/>
              </a:rPr>
              <a:t>-  </a:t>
            </a:r>
            <a:r>
              <a:rPr b="0" lang="en-US" sz="1900" spc="-1" strike="noStrike">
                <a:solidFill>
                  <a:srgbClr val="f1eefb"/>
                </a:solidFill>
                <a:latin typeface="Calibri"/>
              </a:rPr>
              <a:t>Turn the forecast into product features a shopper directly benefits from: an anomaly badge, a suggested trigger price, and a live fire-probability estimate.</a:t>
            </a:r>
            <a:endParaRPr b="0" lang="en-GB" sz="19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12000"/>
              </a:lnSpc>
              <a:spcAft>
                <a:spcPts val="1599"/>
              </a:spcAft>
            </a:pPr>
            <a:r>
              <a:rPr b="1" lang="en-US" sz="1900" spc="-1" strike="noStrike">
                <a:solidFill>
                  <a:srgbClr val="a78bfa"/>
                </a:solidFill>
                <a:latin typeface="Calibri"/>
              </a:rPr>
              <a:t>-  </a:t>
            </a:r>
            <a:r>
              <a:rPr b="0" lang="en-US" sz="1900" spc="-1" strike="noStrike">
                <a:solidFill>
                  <a:srgbClr val="f1eefb"/>
                </a:solidFill>
                <a:latin typeface="Calibri"/>
              </a:rPr>
              <a:t>Integrate the whole pipeline into a working full-stack platform: catalog, cart, checkout, order lifecycle, and an admin backend.</a:t>
            </a:r>
            <a:endParaRPr b="0" lang="en-GB" sz="19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30f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TextBox 1"/>
          <p:cNvSpPr/>
          <p:nvPr/>
        </p:nvSpPr>
        <p:spPr>
          <a:xfrm>
            <a:off x="640080" y="384120"/>
            <a:ext cx="7314840" cy="19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a78bfa"/>
                </a:solidFill>
                <a:latin typeface="Calibri"/>
              </a:rPr>
              <a:t>LITERATURE SURVEY</a:t>
            </a:r>
            <a:endParaRPr b="0" lang="en-GB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1" name="TextBox 2"/>
          <p:cNvSpPr/>
          <p:nvPr/>
        </p:nvSpPr>
        <p:spPr>
          <a:xfrm>
            <a:off x="621720" y="685800"/>
            <a:ext cx="10515240" cy="48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200" spc="-1" strike="noStrike">
                <a:solidFill>
                  <a:srgbClr val="f1eefb"/>
                </a:solidFill>
                <a:latin typeface="Georgia"/>
              </a:rPr>
              <a:t>Foundational work this project builds on</a:t>
            </a:r>
            <a:endParaRPr b="0" lang="en-GB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2" name="Rectangle 3"/>
          <p:cNvSpPr/>
          <p:nvPr/>
        </p:nvSpPr>
        <p:spPr>
          <a:xfrm>
            <a:off x="640080" y="1371600"/>
            <a:ext cx="1005480" cy="37800"/>
          </a:xfrm>
          <a:prstGeom prst="rect">
            <a:avLst/>
          </a:prstGeom>
          <a:solidFill>
            <a:srgbClr val="7c3ae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6840" bIns="-68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3" name="TextBox 4"/>
          <p:cNvSpPr/>
          <p:nvPr/>
        </p:nvSpPr>
        <p:spPr>
          <a:xfrm>
            <a:off x="640080" y="6473880"/>
            <a:ext cx="2742840" cy="16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8a81ad"/>
                </a:solidFill>
                <a:latin typeface="Calibri"/>
              </a:rPr>
              <a:t>PriceSense</a:t>
            </a:r>
            <a:endParaRPr b="0" lang="en-GB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4" name="TextBox 5"/>
          <p:cNvSpPr/>
          <p:nvPr/>
        </p:nvSpPr>
        <p:spPr>
          <a:xfrm>
            <a:off x="10881360" y="6473880"/>
            <a:ext cx="914040" cy="16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8a81ad"/>
                </a:solidFill>
                <a:latin typeface="Calibri"/>
              </a:rPr>
              <a:t>05 / 11</a:t>
            </a:r>
            <a:endParaRPr b="0" lang="en-GB" sz="1100" spc="-1" strike="noStrike">
              <a:solidFill>
                <a:srgbClr val="ffffff"/>
              </a:solidFill>
              <a:latin typeface="Arial"/>
            </a:endParaRPr>
          </a:p>
        </p:txBody>
      </p:sp>
      <p:graphicFrame>
        <p:nvGraphicFramePr>
          <p:cNvPr id="85" name="Table 6"/>
          <p:cNvGraphicFramePr/>
          <p:nvPr/>
        </p:nvGraphicFramePr>
        <p:xfrm>
          <a:off x="640080" y="1828800"/>
          <a:ext cx="10881000" cy="3931560"/>
        </p:xfrm>
        <a:graphic>
          <a:graphicData uri="http://schemas.openxmlformats.org/drawingml/2006/table">
            <a:tbl>
              <a:tblPr/>
              <a:tblGrid>
                <a:gridCol w="3291840"/>
                <a:gridCol w="4480560"/>
                <a:gridCol w="3108960"/>
              </a:tblGrid>
              <a:tr h="786240">
                <a:tc>
                  <a:txBody>
                    <a:bodyPr lIns="101520" rIns="101520" tIns="75960" bIns="759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300" spc="-1" strike="noStrike">
                          <a:solidFill>
                            <a:srgbClr val="a78bfa"/>
                          </a:solidFill>
                          <a:latin typeface="Calibri"/>
                        </a:rPr>
                        <a:t>Work</a:t>
                      </a:r>
                      <a:endParaRPr b="0" lang="en-GB" sz="1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101520" marR="1015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41d3d"/>
                    </a:solidFill>
                  </a:tcPr>
                </a:tc>
                <a:tc>
                  <a:txBody>
                    <a:bodyPr lIns="101520" rIns="101520" tIns="75960" bIns="759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300" spc="-1" strike="noStrike">
                          <a:solidFill>
                            <a:srgbClr val="a78bfa"/>
                          </a:solidFill>
                          <a:latin typeface="Calibri"/>
                        </a:rPr>
                        <a:t>Contribution</a:t>
                      </a:r>
                      <a:endParaRPr b="0" lang="en-GB" sz="1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101520" marR="1015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41d3d"/>
                    </a:solidFill>
                  </a:tcPr>
                </a:tc>
                <a:tc>
                  <a:txBody>
                    <a:bodyPr lIns="101520" rIns="101520" tIns="75960" bIns="759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300" spc="-1" strike="noStrike">
                          <a:solidFill>
                            <a:srgbClr val="a78bfa"/>
                          </a:solidFill>
                          <a:latin typeface="Calibri"/>
                        </a:rPr>
                        <a:t>Applied here as</a:t>
                      </a:r>
                      <a:endParaRPr b="0" lang="en-GB" sz="1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101520" marR="1015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41d3d"/>
                    </a:solidFill>
                  </a:tcPr>
                </a:tc>
              </a:tr>
              <a:tr h="786240">
                <a:tc>
                  <a:txBody>
                    <a:bodyPr lIns="101520" rIns="101520" tIns="63360" bIns="63360" anchor="ctr">
                      <a:noAutofit/>
                    </a:bodyPr>
                    <a:p>
                      <a:r>
                        <a:rPr b="0" lang="en-US" sz="1200" spc="-1" strike="noStrike">
                          <a:solidFill>
                            <a:srgbClr val="f1eefb"/>
                          </a:solidFill>
                          <a:latin typeface="Calibri"/>
                        </a:rPr>
                        <a:t>Taylor &amp; Letham (2017)</a:t>
                      </a:r>
                      <a:endParaRPr b="0" lang="en-GB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f1eefb"/>
                          </a:solidFill>
                          <a:latin typeface="Calibri"/>
                        </a:rPr>
                        <a:t>"Forecasting at Scale"</a:t>
                      </a:r>
                      <a:endParaRPr b="0" lang="en-GB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101520" marR="1015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b1630"/>
                    </a:solidFill>
                  </a:tcPr>
                </a:tc>
                <a:tc>
                  <a:txBody>
                    <a:bodyPr lIns="101520" rIns="101520" tIns="63360" bIns="63360" anchor="ctr">
                      <a:noAutofit/>
                    </a:bodyPr>
                    <a:p>
                      <a:r>
                        <a:rPr b="0" lang="en-US" sz="1200" spc="-1" strike="noStrike">
                          <a:solidFill>
                            <a:srgbClr val="f1eefb"/>
                          </a:solidFill>
                          <a:latin typeface="Calibri"/>
                        </a:rPr>
                        <a:t>Introduced Prophet: an additive decomposable</a:t>
                      </a:r>
                      <a:endParaRPr b="0" lang="en-GB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  <a:p>
                      <a:r>
                        <a:rPr b="0" lang="en-US" sz="1200" spc="-1" strike="noStrike">
                          <a:solidFill>
                            <a:srgbClr val="f1eefb"/>
                          </a:solidFill>
                          <a:latin typeface="Calibri"/>
                        </a:rPr>
                        <a:t>time-series model (trend + seasonality + holidays)</a:t>
                      </a:r>
                      <a:endParaRPr b="0" lang="en-GB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f1eefb"/>
                          </a:solidFill>
                          <a:latin typeface="Calibri"/>
                        </a:rPr>
                        <a:t>designed to be robust on business time series.</a:t>
                      </a:r>
                      <a:endParaRPr b="0" lang="en-GB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101520" marR="1015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b1630"/>
                    </a:solidFill>
                  </a:tcPr>
                </a:tc>
                <a:tc>
                  <a:txBody>
                    <a:bodyPr lIns="101520" rIns="101520" tIns="63360" bIns="63360" anchor="ctr">
                      <a:noAutofit/>
                    </a:bodyPr>
                    <a:p>
                      <a:r>
                        <a:rPr b="0" lang="en-US" sz="1200" spc="-1" strike="noStrike">
                          <a:solidFill>
                            <a:srgbClr val="f1eefb"/>
                          </a:solidFill>
                          <a:latin typeface="Calibri"/>
                        </a:rPr>
                        <a:t>Core forecasting model</a:t>
                      </a:r>
                      <a:endParaRPr b="0" lang="en-GB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f1eefb"/>
                          </a:solidFill>
                          <a:latin typeface="Calibri"/>
                        </a:rPr>
                        <a:t>(ml/forecasting.py)</a:t>
                      </a:r>
                      <a:endParaRPr b="0" lang="en-GB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101520" marR="1015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b1630"/>
                    </a:solidFill>
                  </a:tcPr>
                </a:tc>
              </a:tr>
              <a:tr h="786240">
                <a:tc>
                  <a:txBody>
                    <a:bodyPr lIns="101520" rIns="101520" tIns="63360" bIns="63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f1eefb"/>
                          </a:solidFill>
                          <a:latin typeface="Calibri"/>
                        </a:rPr>
                        <a:t>Holt (1957); Winters (1960)</a:t>
                      </a:r>
                      <a:endParaRPr b="0" lang="en-GB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101520" marR="1015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30f1f"/>
                    </a:solidFill>
                  </a:tcPr>
                </a:tc>
                <a:tc>
                  <a:txBody>
                    <a:bodyPr lIns="101520" rIns="101520" tIns="63360" bIns="63360" anchor="ctr">
                      <a:noAutofit/>
                    </a:bodyPr>
                    <a:p>
                      <a:r>
                        <a:rPr b="0" lang="en-US" sz="1200" spc="-1" strike="noStrike">
                          <a:solidFill>
                            <a:srgbClr val="f1eefb"/>
                          </a:solidFill>
                          <a:latin typeface="Calibri"/>
                        </a:rPr>
                        <a:t>Classical exponential smoothing methods for</a:t>
                      </a:r>
                      <a:endParaRPr b="0" lang="en-GB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f1eefb"/>
                          </a:solidFill>
                          <a:latin typeface="Calibri"/>
                        </a:rPr>
                        <a:t>trend and seasonal time series.</a:t>
                      </a:r>
                      <a:endParaRPr b="0" lang="en-GB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101520" marR="1015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30f1f"/>
                    </a:solidFill>
                  </a:tcPr>
                </a:tc>
                <a:tc>
                  <a:txBody>
                    <a:bodyPr lIns="101520" rIns="101520" tIns="63360" bIns="63360" anchor="ctr">
                      <a:noAutofit/>
                    </a:bodyPr>
                    <a:p>
                      <a:r>
                        <a:rPr b="0" lang="en-US" sz="1200" spc="-1" strike="noStrike">
                          <a:solidFill>
                            <a:srgbClr val="f1eefb"/>
                          </a:solidFill>
                          <a:latin typeface="Calibri"/>
                        </a:rPr>
                        <a:t>Holt-Winters comparison</a:t>
                      </a:r>
                      <a:endParaRPr b="0" lang="en-GB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f1eefb"/>
                          </a:solidFill>
                          <a:latin typeface="Calibri"/>
                        </a:rPr>
                        <a:t>model</a:t>
                      </a:r>
                      <a:endParaRPr b="0" lang="en-GB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101520" marR="1015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30f1f"/>
                    </a:solidFill>
                  </a:tcPr>
                </a:tc>
              </a:tr>
              <a:tr h="786240">
                <a:tc>
                  <a:txBody>
                    <a:bodyPr lIns="101520" rIns="101520" tIns="63360" bIns="63360" anchor="ctr">
                      <a:noAutofit/>
                    </a:bodyPr>
                    <a:p>
                      <a:r>
                        <a:rPr b="0" lang="en-US" sz="1200" spc="-1" strike="noStrike">
                          <a:solidFill>
                            <a:srgbClr val="f1eefb"/>
                          </a:solidFill>
                          <a:latin typeface="Calibri"/>
                        </a:rPr>
                        <a:t>Sarwar et al. (2001)</a:t>
                      </a:r>
                      <a:endParaRPr b="0" lang="en-GB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f1eefb"/>
                          </a:solidFill>
                          <a:latin typeface="Calibri"/>
                        </a:rPr>
                        <a:t>Item-Based Collaborative Filtering</a:t>
                      </a:r>
                      <a:endParaRPr b="0" lang="en-GB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101520" marR="1015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b1630"/>
                    </a:solidFill>
                  </a:tcPr>
                </a:tc>
                <a:tc>
                  <a:txBody>
                    <a:bodyPr lIns="101520" rIns="101520" tIns="63360" bIns="63360" anchor="ctr">
                      <a:noAutofit/>
                    </a:bodyPr>
                    <a:p>
                      <a:r>
                        <a:rPr b="0" lang="en-US" sz="1200" spc="-1" strike="noStrike">
                          <a:solidFill>
                            <a:srgbClr val="f1eefb"/>
                          </a:solidFill>
                          <a:latin typeface="Calibri"/>
                        </a:rPr>
                        <a:t>Recommending items via co-occurrence of</a:t>
                      </a:r>
                      <a:endParaRPr b="0" lang="en-GB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f1eefb"/>
                          </a:solidFill>
                          <a:latin typeface="Calibri"/>
                        </a:rPr>
                        <a:t>user activity, without a trained model.</a:t>
                      </a:r>
                      <a:endParaRPr b="0" lang="en-GB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101520" marR="1015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b1630"/>
                    </a:solidFill>
                  </a:tcPr>
                </a:tc>
                <a:tc>
                  <a:txBody>
                    <a:bodyPr lIns="101520" rIns="101520" tIns="63360" bIns="63360" anchor="ctr">
                      <a:noAutofit/>
                    </a:bodyPr>
                    <a:p>
                      <a:r>
                        <a:rPr b="0" lang="en-US" sz="1200" spc="-1" strike="noStrike">
                          <a:solidFill>
                            <a:srgbClr val="f1eefb"/>
                          </a:solidFill>
                          <a:latin typeface="Calibri"/>
                        </a:rPr>
                        <a:t>"You might also like"</a:t>
                      </a:r>
                      <a:endParaRPr b="0" lang="en-GB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f1eefb"/>
                          </a:solidFill>
                          <a:latin typeface="Calibri"/>
                        </a:rPr>
                        <a:t>recommendation engine</a:t>
                      </a:r>
                      <a:endParaRPr b="0" lang="en-GB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101520" marR="1015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b1630"/>
                    </a:solidFill>
                  </a:tcPr>
                </a:tc>
              </a:tr>
              <a:tr h="786240">
                <a:tc>
                  <a:txBody>
                    <a:bodyPr lIns="101520" rIns="101520" tIns="63360" bIns="63360" anchor="ctr">
                      <a:noAutofit/>
                    </a:bodyPr>
                    <a:p>
                      <a:r>
                        <a:rPr b="0" lang="en-US" sz="1200" spc="-1" strike="noStrike">
                          <a:solidFill>
                            <a:srgbClr val="f1eefb"/>
                          </a:solidFill>
                          <a:latin typeface="Calibri"/>
                        </a:rPr>
                        <a:t>Dynamic/algorithmic pricing</a:t>
                      </a:r>
                      <a:endParaRPr b="0" lang="en-GB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f1eefb"/>
                          </a:solidFill>
                          <a:latin typeface="Calibri"/>
                        </a:rPr>
                        <a:t>literature (general)</a:t>
                      </a:r>
                      <a:endParaRPr b="0" lang="en-GB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101520" marR="1015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30f1f"/>
                    </a:solidFill>
                  </a:tcPr>
                </a:tc>
                <a:tc>
                  <a:txBody>
                    <a:bodyPr lIns="101520" rIns="101520" tIns="63360" bIns="63360" anchor="ctr">
                      <a:noAutofit/>
                    </a:bodyPr>
                    <a:p>
                      <a:r>
                        <a:rPr b="0" lang="en-US" sz="1200" spc="-1" strike="noStrike">
                          <a:solidFill>
                            <a:srgbClr val="f1eefb"/>
                          </a:solidFill>
                          <a:latin typeface="Calibri"/>
                        </a:rPr>
                        <a:t>Motivates that e-commerce prices follow</a:t>
                      </a:r>
                      <a:endParaRPr b="0" lang="en-GB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  <a:p>
                      <a:r>
                        <a:rPr b="0" lang="en-US" sz="1200" spc="-1" strike="noStrike">
                          <a:solidFill>
                            <a:srgbClr val="f1eefb"/>
                          </a:solidFill>
                          <a:latin typeface="Calibri"/>
                        </a:rPr>
                        <a:t>learnable seasonal + trend patterns, not</a:t>
                      </a:r>
                      <a:endParaRPr b="0" lang="en-GB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f1eefb"/>
                          </a:solidFill>
                          <a:latin typeface="Calibri"/>
                        </a:rPr>
                        <a:t>pure noise.</a:t>
                      </a:r>
                      <a:endParaRPr b="0" lang="en-GB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101520" marR="1015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30f1f"/>
                    </a:solidFill>
                  </a:tcPr>
                </a:tc>
                <a:tc>
                  <a:txBody>
                    <a:bodyPr lIns="101520" rIns="101520" tIns="63360" bIns="63360" anchor="ctr">
                      <a:noAutofit/>
                    </a:bodyPr>
                    <a:p>
                      <a:r>
                        <a:rPr b="0" lang="en-US" sz="1200" spc="-1" strike="noStrike">
                          <a:solidFill>
                            <a:srgbClr val="f1eefb"/>
                          </a:solidFill>
                          <a:latin typeface="Calibri"/>
                        </a:rPr>
                        <a:t>Demand-curve price</a:t>
                      </a:r>
                      <a:endParaRPr b="0" lang="en-GB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f1eefb"/>
                          </a:solidFill>
                          <a:latin typeface="Calibri"/>
                        </a:rPr>
                        <a:t>simulation for the catalog</a:t>
                      </a:r>
                      <a:endParaRPr b="0" lang="en-GB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101520" marR="1015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30f1f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30f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TextBox 1"/>
          <p:cNvSpPr/>
          <p:nvPr/>
        </p:nvSpPr>
        <p:spPr>
          <a:xfrm>
            <a:off x="640080" y="384120"/>
            <a:ext cx="7314840" cy="19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a78bfa"/>
                </a:solidFill>
                <a:latin typeface="Calibri"/>
              </a:rPr>
              <a:t>METHODOLOGY</a:t>
            </a:r>
            <a:endParaRPr b="0" lang="en-GB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7" name="TextBox 2"/>
          <p:cNvSpPr/>
          <p:nvPr/>
        </p:nvSpPr>
        <p:spPr>
          <a:xfrm>
            <a:off x="621720" y="685800"/>
            <a:ext cx="10515240" cy="48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200" spc="-1" strike="noStrike">
                <a:solidFill>
                  <a:srgbClr val="f1eefb"/>
                </a:solidFill>
                <a:latin typeface="Georgia"/>
              </a:rPr>
              <a:t>From raw data to a live prediction</a:t>
            </a:r>
            <a:endParaRPr b="0" lang="en-GB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8" name="Rectangle 3"/>
          <p:cNvSpPr/>
          <p:nvPr/>
        </p:nvSpPr>
        <p:spPr>
          <a:xfrm>
            <a:off x="640080" y="1371600"/>
            <a:ext cx="1005480" cy="37800"/>
          </a:xfrm>
          <a:prstGeom prst="rect">
            <a:avLst/>
          </a:prstGeom>
          <a:solidFill>
            <a:srgbClr val="7c3ae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6840" bIns="-68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9" name="TextBox 4"/>
          <p:cNvSpPr/>
          <p:nvPr/>
        </p:nvSpPr>
        <p:spPr>
          <a:xfrm>
            <a:off x="640080" y="6473880"/>
            <a:ext cx="2742840" cy="16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8a81ad"/>
                </a:solidFill>
                <a:latin typeface="Calibri"/>
              </a:rPr>
              <a:t>PriceSense</a:t>
            </a:r>
            <a:endParaRPr b="0" lang="en-GB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0" name="TextBox 5"/>
          <p:cNvSpPr/>
          <p:nvPr/>
        </p:nvSpPr>
        <p:spPr>
          <a:xfrm>
            <a:off x="10881360" y="6473880"/>
            <a:ext cx="914040" cy="16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8a81ad"/>
                </a:solidFill>
                <a:latin typeface="Calibri"/>
              </a:rPr>
              <a:t>06 / 11</a:t>
            </a:r>
            <a:endParaRPr b="0" lang="en-GB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1" name="Rectangle 6"/>
          <p:cNvSpPr/>
          <p:nvPr/>
        </p:nvSpPr>
        <p:spPr>
          <a:xfrm>
            <a:off x="668880" y="2103120"/>
            <a:ext cx="1965600" cy="914040"/>
          </a:xfrm>
          <a:prstGeom prst="rect">
            <a:avLst/>
          </a:prstGeom>
          <a:solidFill>
            <a:srgbClr val="1b1630"/>
          </a:solidFill>
          <a:ln>
            <a:solidFill>
              <a:srgbClr val="3a305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f1eefb"/>
                </a:solidFill>
                <a:latin typeface="Calibri"/>
              </a:rPr>
              <a:t>Seed Catalog</a:t>
            </a:r>
            <a:endParaRPr b="0" lang="en-GB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2" name="Right Arrow 7"/>
          <p:cNvSpPr/>
          <p:nvPr/>
        </p:nvSpPr>
        <p:spPr>
          <a:xfrm>
            <a:off x="2634840" y="2423160"/>
            <a:ext cx="255600" cy="27396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a78b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3" name="Rectangle 8"/>
          <p:cNvSpPr/>
          <p:nvPr/>
        </p:nvSpPr>
        <p:spPr>
          <a:xfrm>
            <a:off x="2890800" y="2103120"/>
            <a:ext cx="1965600" cy="914040"/>
          </a:xfrm>
          <a:prstGeom prst="rect">
            <a:avLst/>
          </a:prstGeom>
          <a:solidFill>
            <a:srgbClr val="1b1630"/>
          </a:solidFill>
          <a:ln>
            <a:solidFill>
              <a:srgbClr val="3a305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f1eefb"/>
                </a:solidFill>
                <a:latin typeface="Calibri"/>
              </a:rPr>
              <a:t>Backfill History</a:t>
            </a:r>
            <a:endParaRPr b="0" lang="en-GB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4" name="Right Arrow 9"/>
          <p:cNvSpPr/>
          <p:nvPr/>
        </p:nvSpPr>
        <p:spPr>
          <a:xfrm>
            <a:off x="4856760" y="2423160"/>
            <a:ext cx="255600" cy="27396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a78b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5" name="Rectangle 10"/>
          <p:cNvSpPr/>
          <p:nvPr/>
        </p:nvSpPr>
        <p:spPr>
          <a:xfrm>
            <a:off x="5112720" y="2103120"/>
            <a:ext cx="1965600" cy="914040"/>
          </a:xfrm>
          <a:prstGeom prst="rect">
            <a:avLst/>
          </a:prstGeom>
          <a:solidFill>
            <a:srgbClr val="1b1630"/>
          </a:solidFill>
          <a:ln>
            <a:solidFill>
              <a:srgbClr val="3a305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f1eefb"/>
                </a:solidFill>
                <a:latin typeface="Calibri"/>
              </a:rPr>
              <a:t>Train Prophet</a:t>
            </a:r>
            <a:endParaRPr b="0" lang="en-GB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6" name="Right Arrow 11"/>
          <p:cNvSpPr/>
          <p:nvPr/>
        </p:nvSpPr>
        <p:spPr>
          <a:xfrm>
            <a:off x="7078680" y="2423160"/>
            <a:ext cx="255600" cy="27396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a78b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7" name="Rectangle 12"/>
          <p:cNvSpPr/>
          <p:nvPr/>
        </p:nvSpPr>
        <p:spPr>
          <a:xfrm>
            <a:off x="7335000" y="2103120"/>
            <a:ext cx="1965600" cy="914040"/>
          </a:xfrm>
          <a:prstGeom prst="rect">
            <a:avLst/>
          </a:prstGeom>
          <a:solidFill>
            <a:srgbClr val="1b1630"/>
          </a:solidFill>
          <a:ln>
            <a:solidFill>
              <a:srgbClr val="3a305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f1eefb"/>
                </a:solidFill>
                <a:latin typeface="Calibri"/>
              </a:rPr>
              <a:t>Evaluate &amp; Compare</a:t>
            </a:r>
            <a:endParaRPr b="0" lang="en-GB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8" name="Right Arrow 13"/>
          <p:cNvSpPr/>
          <p:nvPr/>
        </p:nvSpPr>
        <p:spPr>
          <a:xfrm>
            <a:off x="9300960" y="2423160"/>
            <a:ext cx="255600" cy="27396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a78b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9" name="Rectangle 14"/>
          <p:cNvSpPr/>
          <p:nvPr/>
        </p:nvSpPr>
        <p:spPr>
          <a:xfrm>
            <a:off x="9556920" y="2103120"/>
            <a:ext cx="1965600" cy="914040"/>
          </a:xfrm>
          <a:prstGeom prst="rect">
            <a:avLst/>
          </a:prstGeom>
          <a:solidFill>
            <a:srgbClr val="1b1630"/>
          </a:solidFill>
          <a:ln>
            <a:solidFill>
              <a:srgbClr val="3a305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f1eefb"/>
                </a:solidFill>
                <a:latin typeface="Calibri"/>
              </a:rPr>
              <a:t>Serve Predictions</a:t>
            </a:r>
            <a:endParaRPr b="0" lang="en-GB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0" name="TextBox 15"/>
          <p:cNvSpPr/>
          <p:nvPr/>
        </p:nvSpPr>
        <p:spPr>
          <a:xfrm>
            <a:off x="640080" y="3429000"/>
            <a:ext cx="10606680" cy="208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12000"/>
              </a:lnSpc>
              <a:spcAft>
                <a:spcPts val="1199"/>
              </a:spcAft>
            </a:pPr>
            <a:r>
              <a:rPr b="1" lang="en-US" sz="1650" spc="-1" strike="noStrike">
                <a:solidFill>
                  <a:srgbClr val="a78bfa"/>
                </a:solidFill>
                <a:latin typeface="Calibri"/>
              </a:rPr>
              <a:t>-  </a:t>
            </a:r>
            <a:r>
              <a:rPr b="1" lang="en-US" sz="1650" spc="-1" strike="noStrike">
                <a:solidFill>
                  <a:srgbClr val="f1eefb"/>
                </a:solidFill>
                <a:latin typeface="Calibri"/>
              </a:rPr>
              <a:t>Architecture. </a:t>
            </a:r>
            <a:r>
              <a:rPr b="0" lang="en-US" sz="1650" spc="-1" strike="noStrike">
                <a:solidFill>
                  <a:srgbClr val="f1eefb"/>
                </a:solidFill>
                <a:latin typeface="Calibri"/>
              </a:rPr>
              <a:t>A single Django project, not microservices — ml/ is a plain Python module the web process imports directly, since a service boundary would add deployment cost with no matching benefit at this scale.</a:t>
            </a:r>
            <a:endParaRPr b="0" lang="en-GB" sz="16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12000"/>
              </a:lnSpc>
              <a:spcAft>
                <a:spcPts val="1199"/>
              </a:spcAft>
            </a:pPr>
            <a:r>
              <a:rPr b="1" lang="en-US" sz="1650" spc="-1" strike="noStrike">
                <a:solidFill>
                  <a:srgbClr val="a78bfa"/>
                </a:solidFill>
                <a:latin typeface="Calibri"/>
              </a:rPr>
              <a:t>-  </a:t>
            </a:r>
            <a:r>
              <a:rPr b="1" lang="en-US" sz="1650" spc="-1" strike="noStrike">
                <a:solidFill>
                  <a:srgbClr val="f1eefb"/>
                </a:solidFill>
                <a:latin typeface="Calibri"/>
              </a:rPr>
              <a:t>Simulated market data. </a:t>
            </a:r>
            <a:r>
              <a:rPr b="0" lang="en-US" sz="1650" spc="-1" strike="noStrike">
                <a:solidFill>
                  <a:srgbClr val="f1eefb"/>
                </a:solidFill>
                <a:latin typeface="Calibri"/>
              </a:rPr>
              <a:t>650 products across 5 categories, each with 180 days of price history generated by a demand-curve formula (weekly seasonality + trend + noise) — not random numbers — so the model has real, learnable signal.</a:t>
            </a:r>
            <a:endParaRPr b="0" lang="en-GB" sz="16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12000"/>
              </a:lnSpc>
              <a:spcAft>
                <a:spcPts val="1199"/>
              </a:spcAft>
            </a:pPr>
            <a:r>
              <a:rPr b="1" lang="en-US" sz="1650" spc="-1" strike="noStrike">
                <a:solidFill>
                  <a:srgbClr val="a78bfa"/>
                </a:solidFill>
                <a:latin typeface="Calibri"/>
              </a:rPr>
              <a:t>-  </a:t>
            </a:r>
            <a:r>
              <a:rPr b="1" lang="en-US" sz="1650" spc="-1" strike="noStrike">
                <a:solidFill>
                  <a:srgbClr val="f1eefb"/>
                </a:solidFill>
                <a:latin typeface="Calibri"/>
              </a:rPr>
              <a:t>Background jobs. </a:t>
            </a:r>
            <a:r>
              <a:rPr b="0" lang="en-US" sz="1650" spc="-1" strike="noStrike">
                <a:solidFill>
                  <a:srgbClr val="f1eefb"/>
                </a:solidFill>
                <a:latin typeface="Calibri"/>
              </a:rPr>
              <a:t>Celery + Redis handle price updates, trigger checks, order-status progression, and nightly model retraining — with synchronous fallbacks so the whole app still works without a worker running.</a:t>
            </a:r>
            <a:endParaRPr b="0" lang="en-GB" sz="165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30f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extBox 1"/>
          <p:cNvSpPr/>
          <p:nvPr/>
        </p:nvSpPr>
        <p:spPr>
          <a:xfrm>
            <a:off x="640080" y="384120"/>
            <a:ext cx="7314840" cy="19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a78bfa"/>
                </a:solidFill>
                <a:latin typeface="Calibri"/>
              </a:rPr>
              <a:t>ML ALGORITHM</a:t>
            </a:r>
            <a:endParaRPr b="0" lang="en-GB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2" name="TextBox 2"/>
          <p:cNvSpPr/>
          <p:nvPr/>
        </p:nvSpPr>
        <p:spPr>
          <a:xfrm>
            <a:off x="621720" y="685800"/>
            <a:ext cx="10515240" cy="48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200" spc="-1" strike="noStrike">
                <a:solidFill>
                  <a:srgbClr val="f1eefb"/>
                </a:solidFill>
                <a:latin typeface="Georgia"/>
              </a:rPr>
              <a:t>Eight techniques, one trained model at the core</a:t>
            </a:r>
            <a:endParaRPr b="0" lang="en-GB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3" name="Rectangle 3"/>
          <p:cNvSpPr/>
          <p:nvPr/>
        </p:nvSpPr>
        <p:spPr>
          <a:xfrm>
            <a:off x="640080" y="1371600"/>
            <a:ext cx="1005480" cy="37800"/>
          </a:xfrm>
          <a:prstGeom prst="rect">
            <a:avLst/>
          </a:prstGeom>
          <a:solidFill>
            <a:srgbClr val="7c3ae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6840" bIns="-68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4" name="TextBox 4"/>
          <p:cNvSpPr/>
          <p:nvPr/>
        </p:nvSpPr>
        <p:spPr>
          <a:xfrm>
            <a:off x="640080" y="6473880"/>
            <a:ext cx="2742840" cy="16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8a81ad"/>
                </a:solidFill>
                <a:latin typeface="Calibri"/>
              </a:rPr>
              <a:t>PriceSense</a:t>
            </a:r>
            <a:endParaRPr b="0" lang="en-GB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5" name="TextBox 5"/>
          <p:cNvSpPr/>
          <p:nvPr/>
        </p:nvSpPr>
        <p:spPr>
          <a:xfrm>
            <a:off x="10881360" y="6473880"/>
            <a:ext cx="914040" cy="16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8a81ad"/>
                </a:solidFill>
                <a:latin typeface="Calibri"/>
              </a:rPr>
              <a:t>07 / 11</a:t>
            </a:r>
            <a:endParaRPr b="0" lang="en-GB" sz="1100" spc="-1" strike="noStrike">
              <a:solidFill>
                <a:srgbClr val="ffffff"/>
              </a:solidFill>
              <a:latin typeface="Arial"/>
            </a:endParaRPr>
          </a:p>
        </p:txBody>
      </p:sp>
      <p:graphicFrame>
        <p:nvGraphicFramePr>
          <p:cNvPr id="106" name="Table 6"/>
          <p:cNvGraphicFramePr/>
          <p:nvPr/>
        </p:nvGraphicFramePr>
        <p:xfrm>
          <a:off x="640080" y="1737360"/>
          <a:ext cx="10881000" cy="4538520"/>
        </p:xfrm>
        <a:graphic>
          <a:graphicData uri="http://schemas.openxmlformats.org/drawingml/2006/table">
            <a:tbl>
              <a:tblPr/>
              <a:tblGrid>
                <a:gridCol w="5120640"/>
                <a:gridCol w="2103120"/>
                <a:gridCol w="3657600"/>
              </a:tblGrid>
              <a:tr h="447840">
                <a:tc>
                  <a:txBody>
                    <a:bodyPr lIns="101520" rIns="101520" tIns="75960" bIns="759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300" spc="-1" strike="noStrike">
                          <a:solidFill>
                            <a:srgbClr val="a78bfa"/>
                          </a:solidFill>
                          <a:latin typeface="Calibri"/>
                        </a:rPr>
                        <a:t>Technique</a:t>
                      </a:r>
                      <a:endParaRPr b="0" lang="en-GB" sz="1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101520" marR="1015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41d3d"/>
                    </a:solidFill>
                  </a:tcPr>
                </a:tc>
                <a:tc>
                  <a:txBody>
                    <a:bodyPr lIns="101520" rIns="101520" tIns="75960" bIns="759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300" spc="-1" strike="noStrike">
                          <a:solidFill>
                            <a:srgbClr val="a78bfa"/>
                          </a:solidFill>
                          <a:latin typeface="Calibri"/>
                        </a:rPr>
                        <a:t>Kind</a:t>
                      </a:r>
                      <a:endParaRPr b="0" lang="en-GB" sz="1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101520" marR="1015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41d3d"/>
                    </a:solidFill>
                  </a:tcPr>
                </a:tc>
                <a:tc>
                  <a:txBody>
                    <a:bodyPr lIns="101520" rIns="101520" tIns="75960" bIns="759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300" spc="-1" strike="noStrike">
                          <a:solidFill>
                            <a:srgbClr val="a78bfa"/>
                          </a:solidFill>
                          <a:latin typeface="Calibri"/>
                        </a:rPr>
                        <a:t>What it answers</a:t>
                      </a:r>
                      <a:endParaRPr b="0" lang="en-GB" sz="1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101520" marR="1015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41d3d"/>
                    </a:solidFill>
                  </a:tcPr>
                </a:tc>
              </a:tr>
              <a:tr h="447840">
                <a:tc>
                  <a:txBody>
                    <a:bodyPr lIns="101520" rIns="101520" tIns="63360" bIns="63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250" spc="-1" strike="noStrike">
                          <a:solidFill>
                            <a:srgbClr val="f1eefb"/>
                          </a:solidFill>
                          <a:latin typeface="Calibri"/>
                        </a:rPr>
                        <a:t>Prophet (trend + weekly seasonality)</a:t>
                      </a:r>
                      <a:endParaRPr b="0" lang="en-GB" sz="12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101520" marR="1015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b1630"/>
                    </a:solidFill>
                  </a:tcPr>
                </a:tc>
                <a:tc>
                  <a:txBody>
                    <a:bodyPr lIns="101520" rIns="101520" tIns="63360" bIns="63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250" spc="-1" strike="noStrike">
                          <a:solidFill>
                            <a:srgbClr val="f1eefb"/>
                          </a:solidFill>
                          <a:latin typeface="Calibri"/>
                        </a:rPr>
                        <a:t>Model</a:t>
                      </a:r>
                      <a:endParaRPr b="0" lang="en-GB" sz="12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101520" marR="1015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b1630"/>
                    </a:solidFill>
                  </a:tcPr>
                </a:tc>
                <a:tc>
                  <a:txBody>
                    <a:bodyPr lIns="101520" rIns="101520" tIns="63360" bIns="63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250" spc="-1" strike="noStrike">
                          <a:solidFill>
                            <a:srgbClr val="f1eefb"/>
                          </a:solidFill>
                          <a:latin typeface="Calibri"/>
                        </a:rPr>
                        <a:t>Where is this product's price headed?</a:t>
                      </a:r>
                      <a:endParaRPr b="0" lang="en-GB" sz="12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101520" marR="1015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b1630"/>
                    </a:solidFill>
                  </a:tcPr>
                </a:tc>
              </a:tr>
              <a:tr h="447840">
                <a:tc>
                  <a:txBody>
                    <a:bodyPr lIns="101520" rIns="101520" tIns="63360" bIns="63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250" spc="-1" strike="noStrike">
                          <a:solidFill>
                            <a:srgbClr val="f1eefb"/>
                          </a:solidFill>
                          <a:latin typeface="Calibri"/>
                        </a:rPr>
                        <a:t>Holt-Winters exponential smoothing</a:t>
                      </a:r>
                      <a:endParaRPr b="0" lang="en-GB" sz="12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101520" marR="1015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30f1f"/>
                    </a:solidFill>
                  </a:tcPr>
                </a:tc>
                <a:tc>
                  <a:txBody>
                    <a:bodyPr lIns="101520" rIns="101520" tIns="63360" bIns="63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250" spc="-1" strike="noStrike">
                          <a:solidFill>
                            <a:srgbClr val="f1eefb"/>
                          </a:solidFill>
                          <a:latin typeface="Calibri"/>
                        </a:rPr>
                        <a:t>Model</a:t>
                      </a:r>
                      <a:endParaRPr b="0" lang="en-GB" sz="12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101520" marR="1015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30f1f"/>
                    </a:solidFill>
                  </a:tcPr>
                </a:tc>
                <a:tc>
                  <a:txBody>
                    <a:bodyPr lIns="101520" rIns="101520" tIns="63360" bIns="63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250" spc="-1" strike="noStrike">
                          <a:solidFill>
                            <a:srgbClr val="f1eefb"/>
                          </a:solidFill>
                          <a:latin typeface="Calibri"/>
                        </a:rPr>
                        <a:t>Does a classical method agree with Prophet?</a:t>
                      </a:r>
                      <a:endParaRPr b="0" lang="en-GB" sz="12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101520" marR="1015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30f1f"/>
                    </a:solidFill>
                  </a:tcPr>
                </a:tc>
              </a:tr>
              <a:tr h="447840">
                <a:tc>
                  <a:txBody>
                    <a:bodyPr lIns="101520" rIns="101520" tIns="63360" bIns="63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250" spc="-1" strike="noStrike">
                          <a:solidFill>
                            <a:srgbClr val="f1eefb"/>
                          </a:solidFill>
                          <a:latin typeface="Calibri"/>
                        </a:rPr>
                        <a:t>Naive persistence baseline</a:t>
                      </a:r>
                      <a:endParaRPr b="0" lang="en-GB" sz="12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101520" marR="1015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b1630"/>
                    </a:solidFill>
                  </a:tcPr>
                </a:tc>
                <a:tc>
                  <a:txBody>
                    <a:bodyPr lIns="101520" rIns="101520" tIns="63360" bIns="63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250" spc="-1" strike="noStrike">
                          <a:solidFill>
                            <a:srgbClr val="f1eefb"/>
                          </a:solidFill>
                          <a:latin typeface="Calibri"/>
                        </a:rPr>
                        <a:t>Baseline</a:t>
                      </a:r>
                      <a:endParaRPr b="0" lang="en-GB" sz="12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101520" marR="1015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b1630"/>
                    </a:solidFill>
                  </a:tcPr>
                </a:tc>
                <a:tc>
                  <a:txBody>
                    <a:bodyPr lIns="101520" rIns="101520" tIns="63360" bIns="63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250" spc="-1" strike="noStrike">
                          <a:solidFill>
                            <a:srgbClr val="f1eefb"/>
                          </a:solidFill>
                          <a:latin typeface="Calibri"/>
                        </a:rPr>
                        <a:t>Is either real model better than just guessing?</a:t>
                      </a:r>
                      <a:endParaRPr b="0" lang="en-GB" sz="12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101520" marR="1015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b1630"/>
                    </a:solidFill>
                  </a:tcPr>
                </a:tc>
              </a:tr>
              <a:tr h="447840">
                <a:tc>
                  <a:txBody>
                    <a:bodyPr lIns="101520" rIns="101520" tIns="63360" bIns="63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250" spc="-1" strike="noStrike">
                          <a:solidFill>
                            <a:srgbClr val="f1eefb"/>
                          </a:solidFill>
                          <a:latin typeface="Calibri"/>
                        </a:rPr>
                        <a:t>Rolling-origin cross-validation</a:t>
                      </a:r>
                      <a:endParaRPr b="0" lang="en-GB" sz="12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101520" marR="1015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30f1f"/>
                    </a:solidFill>
                  </a:tcPr>
                </a:tc>
                <a:tc>
                  <a:txBody>
                    <a:bodyPr lIns="101520" rIns="101520" tIns="63360" bIns="63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250" spc="-1" strike="noStrike">
                          <a:solidFill>
                            <a:srgbClr val="f1eefb"/>
                          </a:solidFill>
                          <a:latin typeface="Calibri"/>
                        </a:rPr>
                        <a:t>Evaluation</a:t>
                      </a:r>
                      <a:endParaRPr b="0" lang="en-GB" sz="12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101520" marR="1015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30f1f"/>
                    </a:solidFill>
                  </a:tcPr>
                </a:tc>
                <a:tc>
                  <a:txBody>
                    <a:bodyPr lIns="101520" rIns="101520" tIns="63360" bIns="63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250" spc="-1" strike="noStrike">
                          <a:solidFill>
                            <a:srgbClr val="f1eefb"/>
                          </a:solidFill>
                          <a:latin typeface="Calibri"/>
                        </a:rPr>
                        <a:t>Does accuracy hold up across many cutoffs?</a:t>
                      </a:r>
                      <a:endParaRPr b="0" lang="en-GB" sz="12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101520" marR="1015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30f1f"/>
                    </a:solidFill>
                  </a:tcPr>
                </a:tc>
              </a:tr>
              <a:tr h="447840">
                <a:tc>
                  <a:txBody>
                    <a:bodyPr lIns="101520" rIns="101520" tIns="63360" bIns="63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250" spc="-1" strike="noStrike">
                          <a:solidFill>
                            <a:srgbClr val="f1eefb"/>
                          </a:solidFill>
                          <a:latin typeface="Calibri"/>
                        </a:rPr>
                        <a:t>Hyperparameter grid search + CV</a:t>
                      </a:r>
                      <a:endParaRPr b="0" lang="en-GB" sz="12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101520" marR="1015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b1630"/>
                    </a:solidFill>
                  </a:tcPr>
                </a:tc>
                <a:tc>
                  <a:txBody>
                    <a:bodyPr lIns="101520" rIns="101520" tIns="63360" bIns="63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250" spc="-1" strike="noStrike">
                          <a:solidFill>
                            <a:srgbClr val="f1eefb"/>
                          </a:solidFill>
                          <a:latin typeface="Calibri"/>
                        </a:rPr>
                        <a:t>Tuning</a:t>
                      </a:r>
                      <a:endParaRPr b="0" lang="en-GB" sz="12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101520" marR="1015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b1630"/>
                    </a:solidFill>
                  </a:tcPr>
                </a:tc>
                <a:tc>
                  <a:txBody>
                    <a:bodyPr lIns="101520" rIns="101520" tIns="63360" bIns="63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250" spc="-1" strike="noStrike">
                          <a:solidFill>
                            <a:srgbClr val="f1eefb"/>
                          </a:solidFill>
                          <a:latin typeface="Calibri"/>
                        </a:rPr>
                        <a:t>Are Prophet's default settings actually good here?</a:t>
                      </a:r>
                      <a:endParaRPr b="0" lang="en-GB" sz="12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101520" marR="1015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b1630"/>
                    </a:solidFill>
                  </a:tcPr>
                </a:tc>
              </a:tr>
              <a:tr h="447840">
                <a:tc>
                  <a:txBody>
                    <a:bodyPr lIns="101520" rIns="101520" tIns="63360" bIns="63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250" spc="-1" strike="noStrike">
                          <a:solidFill>
                            <a:srgbClr val="f1eefb"/>
                          </a:solidFill>
                          <a:latin typeface="Calibri"/>
                        </a:rPr>
                        <a:t>Confidence-interval anomaly check</a:t>
                      </a:r>
                      <a:endParaRPr b="0" lang="en-GB" sz="12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101520" marR="1015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30f1f"/>
                    </a:solidFill>
                  </a:tcPr>
                </a:tc>
                <a:tc>
                  <a:txBody>
                    <a:bodyPr lIns="101520" rIns="101520" tIns="63360" bIns="63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250" spc="-1" strike="noStrike">
                          <a:solidFill>
                            <a:srgbClr val="f1eefb"/>
                          </a:solidFill>
                          <a:latin typeface="Calibri"/>
                        </a:rPr>
                        <a:t>Statistical rule</a:t>
                      </a:r>
                      <a:endParaRPr b="0" lang="en-GB" sz="12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101520" marR="1015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30f1f"/>
                    </a:solidFill>
                  </a:tcPr>
                </a:tc>
                <a:tc>
                  <a:txBody>
                    <a:bodyPr lIns="101520" rIns="101520" tIns="63360" bIns="63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250" spc="-1" strike="noStrike">
                          <a:solidFill>
                            <a:srgbClr val="f1eefb"/>
                          </a:solidFill>
                          <a:latin typeface="Calibri"/>
                        </a:rPr>
                        <a:t>Is today's price unusually low right now?</a:t>
                      </a:r>
                      <a:endParaRPr b="0" lang="en-GB" sz="12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101520" marR="1015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30f1f"/>
                    </a:solidFill>
                  </a:tcPr>
                </a:tc>
              </a:tr>
              <a:tr h="447840">
                <a:tc>
                  <a:txBody>
                    <a:bodyPr lIns="101520" rIns="101520" tIns="63360" bIns="63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250" spc="-1" strike="noStrike">
                          <a:solidFill>
                            <a:srgbClr val="f1eefb"/>
                          </a:solidFill>
                          <a:latin typeface="Calibri"/>
                        </a:rPr>
                        <a:t>Monte Carlo trigger-fire probability + ETA</a:t>
                      </a:r>
                      <a:endParaRPr b="0" lang="en-GB" sz="12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101520" marR="1015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b1630"/>
                    </a:solidFill>
                  </a:tcPr>
                </a:tc>
                <a:tc>
                  <a:txBody>
                    <a:bodyPr lIns="101520" rIns="101520" tIns="63360" bIns="63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250" spc="-1" strike="noStrike">
                          <a:solidFill>
                            <a:srgbClr val="f1eefb"/>
                          </a:solidFill>
                          <a:latin typeface="Calibri"/>
                        </a:rPr>
                        <a:t>Simulation</a:t>
                      </a:r>
                      <a:endParaRPr b="0" lang="en-GB" sz="12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101520" marR="1015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b1630"/>
                    </a:solidFill>
                  </a:tcPr>
                </a:tc>
                <a:tc>
                  <a:txBody>
                    <a:bodyPr lIns="101520" rIns="101520" tIns="63360" bIns="63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250" spc="-1" strike="noStrike">
                          <a:solidFill>
                            <a:srgbClr val="f1eefb"/>
                          </a:solidFill>
                          <a:latin typeface="Calibri"/>
                        </a:rPr>
                        <a:t>How likely, and roughly when, will this hit my target?</a:t>
                      </a:r>
                      <a:endParaRPr b="0" lang="en-GB" sz="12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101520" marR="1015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b1630"/>
                    </a:solidFill>
                  </a:tcPr>
                </a:tc>
              </a:tr>
              <a:tr h="447840">
                <a:tc>
                  <a:txBody>
                    <a:bodyPr lIns="101520" rIns="101520" tIns="63360" bIns="63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250" spc="-1" strike="noStrike">
                          <a:solidFill>
                            <a:srgbClr val="f1eefb"/>
                          </a:solidFill>
                          <a:latin typeface="Calibri"/>
                        </a:rPr>
                        <a:t>Co-occurrence collaborative filtering</a:t>
                      </a:r>
                      <a:endParaRPr b="0" lang="en-GB" sz="12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101520" marR="1015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30f1f"/>
                    </a:solidFill>
                  </a:tcPr>
                </a:tc>
                <a:tc>
                  <a:txBody>
                    <a:bodyPr lIns="101520" rIns="101520" tIns="63360" bIns="63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250" spc="-1" strike="noStrike">
                          <a:solidFill>
                            <a:srgbClr val="f1eefb"/>
                          </a:solidFill>
                          <a:latin typeface="Calibri"/>
                        </a:rPr>
                        <a:t>Recommendation</a:t>
                      </a:r>
                      <a:endParaRPr b="0" lang="en-GB" sz="12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101520" marR="1015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30f1f"/>
                    </a:solidFill>
                  </a:tcPr>
                </a:tc>
                <a:tc>
                  <a:txBody>
                    <a:bodyPr lIns="101520" rIns="101520" tIns="63360" bIns="63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250" spc="-1" strike="noStrike">
                          <a:solidFill>
                            <a:srgbClr val="f1eefb"/>
                          </a:solidFill>
                          <a:latin typeface="Calibri"/>
                        </a:rPr>
                        <a:t>What do similar shoppers also want?</a:t>
                      </a:r>
                      <a:endParaRPr b="0" lang="en-GB" sz="12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101520" marR="1015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30f1f"/>
                    </a:solidFill>
                  </a:tcPr>
                </a:tc>
              </a:tr>
              <a:tr h="447840">
                <a:tc>
                  <a:txBody>
                    <a:bodyPr lIns="101520" rIns="101520" tIns="63360" bIns="63360" anchor="ctr">
                      <a:noAutofit/>
                    </a:bodyPr>
                    <a:p>
                      <a:r>
                        <a:rPr b="0" lang="en-US" sz="1250" spc="-1" strike="noStrike">
                          <a:solidFill>
                            <a:srgbClr val="f1eefb"/>
                          </a:solidFill>
                          <a:latin typeface="Calibri"/>
                        </a:rPr>
                        <a:t>Validation on real transaction data</a:t>
                      </a:r>
                      <a:endParaRPr b="0" lang="en-GB" sz="12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250" spc="-1" strike="noStrike">
                          <a:solidFill>
                            <a:srgbClr val="f1eefb"/>
                          </a:solidFill>
                          <a:latin typeface="Calibri"/>
                        </a:rPr>
                        <a:t>(UCI Online Retail II)</a:t>
                      </a:r>
                      <a:endParaRPr b="0" lang="en-GB" sz="12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101520" marR="1015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b1630"/>
                    </a:solidFill>
                  </a:tcPr>
                </a:tc>
                <a:tc>
                  <a:txBody>
                    <a:bodyPr lIns="101520" rIns="101520" tIns="63360" bIns="63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250" spc="-1" strike="noStrike">
                          <a:solidFill>
                            <a:srgbClr val="f1eefb"/>
                          </a:solidFill>
                          <a:latin typeface="Calibri"/>
                        </a:rPr>
                        <a:t>External evaluation</a:t>
                      </a:r>
                      <a:endParaRPr b="0" lang="en-GB" sz="12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101520" marR="1015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b1630"/>
                    </a:solidFill>
                  </a:tcPr>
                </a:tc>
                <a:tc>
                  <a:txBody>
                    <a:bodyPr lIns="101520" rIns="101520" tIns="63360" bIns="63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250" spc="-1" strike="noStrike">
                          <a:solidFill>
                            <a:srgbClr val="f1eefb"/>
                          </a:solidFill>
                          <a:latin typeface="Calibri"/>
                        </a:rPr>
                        <a:t>Does this generalize beyond the simulated catalog?</a:t>
                      </a:r>
                      <a:endParaRPr b="0" lang="en-GB" sz="12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101520" marR="1015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b1630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30f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TextBox 1"/>
          <p:cNvSpPr/>
          <p:nvPr/>
        </p:nvSpPr>
        <p:spPr>
          <a:xfrm>
            <a:off x="640080" y="384120"/>
            <a:ext cx="7314840" cy="19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a78bfa"/>
                </a:solidFill>
                <a:latin typeface="Calibri"/>
              </a:rPr>
              <a:t>RESULTS</a:t>
            </a:r>
            <a:endParaRPr b="0" lang="en-GB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8" name="TextBox 2"/>
          <p:cNvSpPr/>
          <p:nvPr/>
        </p:nvSpPr>
        <p:spPr>
          <a:xfrm>
            <a:off x="621720" y="685800"/>
            <a:ext cx="10515240" cy="48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200" spc="-1" strike="noStrike">
                <a:solidFill>
                  <a:srgbClr val="f1eefb"/>
                </a:solidFill>
                <a:latin typeface="Georgia"/>
              </a:rPr>
              <a:t>What the numbers actually show</a:t>
            </a:r>
            <a:endParaRPr b="0" lang="en-GB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9" name="Rectangle 3"/>
          <p:cNvSpPr/>
          <p:nvPr/>
        </p:nvSpPr>
        <p:spPr>
          <a:xfrm>
            <a:off x="640080" y="1371600"/>
            <a:ext cx="1005480" cy="37800"/>
          </a:xfrm>
          <a:prstGeom prst="rect">
            <a:avLst/>
          </a:prstGeom>
          <a:solidFill>
            <a:srgbClr val="7c3ae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6840" bIns="-68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0" name="TextBox 4"/>
          <p:cNvSpPr/>
          <p:nvPr/>
        </p:nvSpPr>
        <p:spPr>
          <a:xfrm>
            <a:off x="640080" y="6473880"/>
            <a:ext cx="2742840" cy="16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8a81ad"/>
                </a:solidFill>
                <a:latin typeface="Calibri"/>
              </a:rPr>
              <a:t>PriceSense</a:t>
            </a:r>
            <a:endParaRPr b="0" lang="en-GB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1" name="TextBox 5"/>
          <p:cNvSpPr/>
          <p:nvPr/>
        </p:nvSpPr>
        <p:spPr>
          <a:xfrm>
            <a:off x="10881360" y="6473880"/>
            <a:ext cx="914040" cy="16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8a81ad"/>
                </a:solidFill>
                <a:latin typeface="Calibri"/>
              </a:rPr>
              <a:t>08 / 11</a:t>
            </a:r>
            <a:endParaRPr b="0" lang="en-GB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2" name="Rectangle 6"/>
          <p:cNvSpPr/>
          <p:nvPr/>
        </p:nvSpPr>
        <p:spPr>
          <a:xfrm>
            <a:off x="640080" y="1874520"/>
            <a:ext cx="2514240" cy="1554120"/>
          </a:xfrm>
          <a:prstGeom prst="rect">
            <a:avLst/>
          </a:prstGeom>
          <a:solidFill>
            <a:srgbClr val="1b1630"/>
          </a:solidFill>
          <a:ln>
            <a:solidFill>
              <a:srgbClr val="3a305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3" name="TextBox 7"/>
          <p:cNvSpPr/>
          <p:nvPr/>
        </p:nvSpPr>
        <p:spPr>
          <a:xfrm>
            <a:off x="804600" y="2039040"/>
            <a:ext cx="2185200" cy="45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000" spc="-1" strike="noStrike">
                <a:solidFill>
                  <a:srgbClr val="4fdb9c"/>
                </a:solidFill>
                <a:latin typeface="Georgia"/>
              </a:rPr>
              <a:t>65-77%</a:t>
            </a:r>
            <a:endParaRPr b="0" lang="en-GB" sz="3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4" name="TextBox 8"/>
          <p:cNvSpPr/>
          <p:nvPr/>
        </p:nvSpPr>
        <p:spPr>
          <a:xfrm>
            <a:off x="804600" y="2743200"/>
            <a:ext cx="2185200" cy="36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b7afd6"/>
                </a:solidFill>
                <a:latin typeface="Calibri"/>
              </a:rPr>
              <a:t>lower MAE vs. naive baseline</a:t>
            </a:r>
            <a:endParaRPr b="0" lang="en-GB" sz="12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b7afd6"/>
                </a:solidFill>
                <a:latin typeface="Calibri"/>
              </a:rPr>
              <a:t>(both Prophet &amp; Holt-Winters)</a:t>
            </a:r>
            <a:endParaRPr b="0" lang="en-GB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5" name="Rectangle 9"/>
          <p:cNvSpPr/>
          <p:nvPr/>
        </p:nvSpPr>
        <p:spPr>
          <a:xfrm>
            <a:off x="3410640" y="1874520"/>
            <a:ext cx="2514240" cy="1554120"/>
          </a:xfrm>
          <a:prstGeom prst="rect">
            <a:avLst/>
          </a:prstGeom>
          <a:solidFill>
            <a:srgbClr val="1b1630"/>
          </a:solidFill>
          <a:ln>
            <a:solidFill>
              <a:srgbClr val="3a305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6" name="TextBox 10"/>
          <p:cNvSpPr/>
          <p:nvPr/>
        </p:nvSpPr>
        <p:spPr>
          <a:xfrm>
            <a:off x="3575160" y="2039040"/>
            <a:ext cx="218520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400" spc="-1" strike="noStrike">
                <a:solidFill>
                  <a:srgbClr val="4bd4e3"/>
                </a:solidFill>
                <a:latin typeface="Georgia"/>
              </a:rPr>
              <a:t>-4.8% to +16.1%</a:t>
            </a:r>
            <a:endParaRPr b="0" lang="en-GB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7" name="TextBox 11"/>
          <p:cNvSpPr/>
          <p:nvPr/>
        </p:nvSpPr>
        <p:spPr>
          <a:xfrm>
            <a:off x="3575160" y="2743200"/>
            <a:ext cx="2185200" cy="36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b7afd6"/>
                </a:solidFill>
                <a:latin typeface="Calibri"/>
              </a:rPr>
              <a:t>Prophet vs. Holt-Winters</a:t>
            </a:r>
            <a:endParaRPr b="0" lang="en-GB" sz="12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b7afd6"/>
                </a:solidFill>
                <a:latin typeface="Calibri"/>
              </a:rPr>
              <a:t>(honest, mixed — no strawman)</a:t>
            </a:r>
            <a:endParaRPr b="0" lang="en-GB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8" name="Rectangle 12"/>
          <p:cNvSpPr/>
          <p:nvPr/>
        </p:nvSpPr>
        <p:spPr>
          <a:xfrm>
            <a:off x="6181200" y="1874520"/>
            <a:ext cx="2514240" cy="1554120"/>
          </a:xfrm>
          <a:prstGeom prst="rect">
            <a:avLst/>
          </a:prstGeom>
          <a:solidFill>
            <a:srgbClr val="1b1630"/>
          </a:solidFill>
          <a:ln>
            <a:solidFill>
              <a:srgbClr val="3a305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9" name="TextBox 13"/>
          <p:cNvSpPr/>
          <p:nvPr/>
        </p:nvSpPr>
        <p:spPr>
          <a:xfrm>
            <a:off x="6346080" y="2039040"/>
            <a:ext cx="2185200" cy="45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000" spc="-1" strike="noStrike">
                <a:solidFill>
                  <a:srgbClr val="f0bd4c"/>
                </a:solidFill>
                <a:latin typeface="Georgia"/>
              </a:rPr>
              <a:t>~1.2%</a:t>
            </a:r>
            <a:endParaRPr b="0" lang="en-GB" sz="3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0" name="TextBox 14"/>
          <p:cNvSpPr/>
          <p:nvPr/>
        </p:nvSpPr>
        <p:spPr>
          <a:xfrm>
            <a:off x="6346080" y="2743200"/>
            <a:ext cx="2185200" cy="36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b7afd6"/>
                </a:solidFill>
                <a:latin typeface="Calibri"/>
              </a:rPr>
              <a:t>gain from hyperparameter tuning</a:t>
            </a:r>
            <a:endParaRPr b="0" lang="en-GB" sz="12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b7afd6"/>
                </a:solidFill>
                <a:latin typeface="Calibri"/>
              </a:rPr>
              <a:t>over Prophet's own defaults</a:t>
            </a:r>
            <a:endParaRPr b="0" lang="en-GB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1" name="Rectangle 15"/>
          <p:cNvSpPr/>
          <p:nvPr/>
        </p:nvSpPr>
        <p:spPr>
          <a:xfrm>
            <a:off x="8952120" y="1874520"/>
            <a:ext cx="2514240" cy="1554120"/>
          </a:xfrm>
          <a:prstGeom prst="rect">
            <a:avLst/>
          </a:prstGeom>
          <a:solidFill>
            <a:srgbClr val="1b1630"/>
          </a:solidFill>
          <a:ln>
            <a:solidFill>
              <a:srgbClr val="3a305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2" name="TextBox 16"/>
          <p:cNvSpPr/>
          <p:nvPr/>
        </p:nvSpPr>
        <p:spPr>
          <a:xfrm>
            <a:off x="9116640" y="2039040"/>
            <a:ext cx="2185200" cy="45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000" spc="-1" strike="noStrike">
                <a:solidFill>
                  <a:srgbClr val="a78bfa"/>
                </a:solidFill>
                <a:latin typeface="Georgia"/>
              </a:rPr>
              <a:t>77 / 77</a:t>
            </a:r>
            <a:endParaRPr b="0" lang="en-GB" sz="3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3" name="TextBox 17"/>
          <p:cNvSpPr/>
          <p:nvPr/>
        </p:nvSpPr>
        <p:spPr>
          <a:xfrm>
            <a:off x="9116640" y="2743200"/>
            <a:ext cx="2185200" cy="36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b7afd6"/>
                </a:solidFill>
                <a:latin typeface="Calibri"/>
              </a:rPr>
              <a:t>automated tests passing</a:t>
            </a:r>
            <a:endParaRPr b="0" lang="en-GB" sz="12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b7afd6"/>
                </a:solidFill>
                <a:latin typeface="Calibri"/>
              </a:rPr>
              <a:t>(unit + integration)</a:t>
            </a:r>
            <a:endParaRPr b="0" lang="en-GB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4" name="TextBox 18"/>
          <p:cNvSpPr/>
          <p:nvPr/>
        </p:nvSpPr>
        <p:spPr>
          <a:xfrm>
            <a:off x="640080" y="3600000"/>
            <a:ext cx="10606680" cy="292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12000"/>
              </a:lnSpc>
              <a:spcAft>
                <a:spcPts val="901"/>
              </a:spcAft>
            </a:pPr>
            <a:r>
              <a:rPr b="1" lang="en-US" sz="1550" spc="-1" strike="noStrike">
                <a:solidFill>
                  <a:srgbClr val="a78bfa"/>
                </a:solidFill>
                <a:latin typeface="Calibri"/>
              </a:rPr>
              <a:t>-  </a:t>
            </a:r>
            <a:r>
              <a:rPr b="0" lang="en-US" sz="1550" spc="-1" strike="noStrike">
                <a:solidFill>
                  <a:srgbClr val="f1eefb"/>
                </a:solidFill>
                <a:latin typeface="Calibri"/>
              </a:rPr>
              <a:t>Both real models comfortably beat the naive baseline — proof the price data has genuine learnable structure, not just noise.</a:t>
            </a:r>
            <a:endParaRPr b="0" lang="en-GB" sz="15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12000"/>
              </a:lnSpc>
              <a:spcAft>
                <a:spcPts val="901"/>
              </a:spcAft>
            </a:pPr>
            <a:r>
              <a:rPr b="1" lang="en-US" sz="1550" spc="-1" strike="noStrike">
                <a:solidFill>
                  <a:srgbClr val="a78bfa"/>
                </a:solidFill>
                <a:latin typeface="Calibri"/>
              </a:rPr>
              <a:t>-  </a:t>
            </a:r>
            <a:r>
              <a:rPr b="0" lang="en-US" sz="1550" spc="-1" strike="noStrike">
                <a:solidFill>
                  <a:srgbClr val="f1eefb"/>
                </a:solidFill>
                <a:latin typeface="Calibri"/>
              </a:rPr>
              <a:t>Prophet does not universally win against Holt-Winters — a more credible finding than a report claiming one model always wins.</a:t>
            </a:r>
            <a:endParaRPr b="0" lang="en-GB" sz="15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12000"/>
              </a:lnSpc>
              <a:spcAft>
                <a:spcPts val="901"/>
              </a:spcAft>
            </a:pPr>
            <a:r>
              <a:rPr b="1" lang="en-US" sz="1550" spc="-1" strike="noStrike">
                <a:solidFill>
                  <a:srgbClr val="a78bfa"/>
                </a:solidFill>
                <a:latin typeface="Calibri"/>
              </a:rPr>
              <a:t>-  </a:t>
            </a:r>
            <a:r>
              <a:rPr b="0" lang="en-US" sz="1550" spc="-1" strike="noStrike">
                <a:solidFill>
                  <a:srgbClr val="f1eefb"/>
                </a:solidFill>
                <a:latin typeface="Calibri"/>
              </a:rPr>
              <a:t>Tuning found Prophet's untouched defaults were already close to optimal — a legitimate result in its own right, not a failed experiment.</a:t>
            </a:r>
            <a:endParaRPr b="0" lang="en-GB" sz="15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12000"/>
              </a:lnSpc>
              <a:spcAft>
                <a:spcPts val="901"/>
              </a:spcAft>
            </a:pPr>
            <a:r>
              <a:rPr b="1" lang="en-US" sz="1550" spc="-1" strike="noStrike">
                <a:solidFill>
                  <a:srgbClr val="a78bfa"/>
                </a:solidFill>
                <a:latin typeface="Calibri"/>
              </a:rPr>
              <a:t>-  </a:t>
            </a:r>
            <a:r>
              <a:rPr b="0" lang="en-US" sz="1550" spc="-1" strike="noStrike">
                <a:solidFill>
                  <a:srgbClr val="f1eefb"/>
                </a:solidFill>
                <a:latin typeface="Calibri"/>
              </a:rPr>
              <a:t>The trigger-fire probability, cross-validation tables, and trend/seasonality decomposition are all rendered live on the /ml-insights/ dashboard from real seeded data.</a:t>
            </a:r>
            <a:endParaRPr b="0" lang="en-GB" sz="15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12000"/>
              </a:lnSpc>
              <a:spcAft>
                <a:spcPts val="901"/>
              </a:spcAft>
            </a:pPr>
            <a:r>
              <a:rPr b="1" lang="en-US" sz="1550" spc="-1" strike="noStrike">
                <a:solidFill>
                  <a:srgbClr val="a78bfa"/>
                </a:solidFill>
                <a:latin typeface="Calibri"/>
              </a:rPr>
              <a:t>-  </a:t>
            </a:r>
            <a:r>
              <a:rPr b="0" lang="en-US" sz="1550" spc="-1" strike="noStrike">
                <a:solidFill>
                  <a:srgbClr val="f1eefb"/>
                </a:solidFill>
                <a:latin typeface="Calibri"/>
              </a:rPr>
              <a:t>Validated the identical pipeline on real transaction data (UCI "Online Retail II", ~1M rows): 8.6% average MAE improvement over the naive baseline across 10 real products, beating Holt-Winters on 5 of 10 — smaller than on the synthetic catalog, honestly reported rather than hidden.</a:t>
            </a:r>
            <a:endParaRPr b="0" lang="en-GB" sz="155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30f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TextBox 1"/>
          <p:cNvSpPr/>
          <p:nvPr/>
        </p:nvSpPr>
        <p:spPr>
          <a:xfrm>
            <a:off x="640080" y="384120"/>
            <a:ext cx="7314840" cy="19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a78bfa"/>
                </a:solidFill>
                <a:latin typeface="Calibri"/>
              </a:rPr>
              <a:t>CONCLUSION</a:t>
            </a:r>
            <a:endParaRPr b="0" lang="en-GB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6" name="TextBox 2"/>
          <p:cNvSpPr/>
          <p:nvPr/>
        </p:nvSpPr>
        <p:spPr>
          <a:xfrm>
            <a:off x="621720" y="685800"/>
            <a:ext cx="10515240" cy="48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200" spc="-1" strike="noStrike">
                <a:solidFill>
                  <a:srgbClr val="f1eefb"/>
                </a:solidFill>
                <a:latin typeface="Georgia"/>
              </a:rPr>
              <a:t>What this project demonstrates</a:t>
            </a:r>
            <a:endParaRPr b="0" lang="en-GB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7" name="Rectangle 3"/>
          <p:cNvSpPr/>
          <p:nvPr/>
        </p:nvSpPr>
        <p:spPr>
          <a:xfrm>
            <a:off x="640080" y="1371600"/>
            <a:ext cx="1005480" cy="37800"/>
          </a:xfrm>
          <a:prstGeom prst="rect">
            <a:avLst/>
          </a:prstGeom>
          <a:solidFill>
            <a:srgbClr val="7c3ae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6840" bIns="-68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8" name="TextBox 4"/>
          <p:cNvSpPr/>
          <p:nvPr/>
        </p:nvSpPr>
        <p:spPr>
          <a:xfrm>
            <a:off x="640080" y="6473880"/>
            <a:ext cx="2742840" cy="16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8a81ad"/>
                </a:solidFill>
                <a:latin typeface="Calibri"/>
              </a:rPr>
              <a:t>PriceSense</a:t>
            </a:r>
            <a:endParaRPr b="0" lang="en-GB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9" name="TextBox 5"/>
          <p:cNvSpPr/>
          <p:nvPr/>
        </p:nvSpPr>
        <p:spPr>
          <a:xfrm>
            <a:off x="10881360" y="6473880"/>
            <a:ext cx="914040" cy="16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8a81ad"/>
                </a:solidFill>
                <a:latin typeface="Calibri"/>
              </a:rPr>
              <a:t>09 / 11</a:t>
            </a:r>
            <a:endParaRPr b="0" lang="en-GB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0" name="TextBox 6"/>
          <p:cNvSpPr/>
          <p:nvPr/>
        </p:nvSpPr>
        <p:spPr>
          <a:xfrm>
            <a:off x="640080" y="1828800"/>
            <a:ext cx="10606680" cy="30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12000"/>
              </a:lnSpc>
              <a:spcAft>
                <a:spcPts val="1400"/>
              </a:spcAft>
            </a:pPr>
            <a:r>
              <a:rPr b="1" lang="en-US" sz="1800" spc="-1" strike="noStrike">
                <a:solidFill>
                  <a:srgbClr val="a78bfa"/>
                </a:solidFill>
                <a:latin typeface="Calibri"/>
              </a:rPr>
              <a:t>-  </a:t>
            </a:r>
            <a:r>
              <a:rPr b="0" lang="en-US" sz="1800" spc="-1" strike="noStrike">
                <a:solidFill>
                  <a:srgbClr val="f1eefb"/>
                </a:solidFill>
                <a:latin typeface="Calibri"/>
              </a:rPr>
              <a:t>A real forecasting pipeline (Prophet) that is evaluated rigorously — against a baseline, a second model, and cross-validation — not just deployed and assumed to work.</a:t>
            </a:r>
            <a:endParaRPr b="0" lang="en-GB" sz="18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12000"/>
              </a:lnSpc>
              <a:spcAft>
                <a:spcPts val="1400"/>
              </a:spcAft>
            </a:pPr>
            <a:r>
              <a:rPr b="1" lang="en-US" sz="1800" spc="-1" strike="noStrike">
                <a:solidFill>
                  <a:srgbClr val="a78bfa"/>
                </a:solidFill>
                <a:latin typeface="Calibri"/>
              </a:rPr>
              <a:t>-  </a:t>
            </a:r>
            <a:r>
              <a:rPr b="0" lang="en-US" sz="1800" spc="-1" strike="noStrike">
                <a:solidFill>
                  <a:srgbClr val="f1eefb"/>
                </a:solidFill>
                <a:latin typeface="Calibri"/>
              </a:rPr>
              <a:t>ML output that directly powers product decisions: an anomaly badge, a suggested price, and a live probability a shopper can act on immediately.</a:t>
            </a:r>
            <a:endParaRPr b="0" lang="en-GB" sz="18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12000"/>
              </a:lnSpc>
              <a:spcAft>
                <a:spcPts val="1400"/>
              </a:spcAft>
            </a:pPr>
            <a:r>
              <a:rPr b="1" lang="en-US" sz="1800" spc="-1" strike="noStrike">
                <a:solidFill>
                  <a:srgbClr val="a78bfa"/>
                </a:solidFill>
                <a:latin typeface="Calibri"/>
              </a:rPr>
              <a:t>-  </a:t>
            </a:r>
            <a:r>
              <a:rPr b="0" lang="en-US" sz="1800" spc="-1" strike="noStrike">
                <a:solidFill>
                  <a:srgbClr val="f1eefb"/>
                </a:solidFill>
                <a:latin typeface="Calibri"/>
              </a:rPr>
              <a:t>A complete, working platform around that pipeline: catalog, cart, wallet checkout, order tracking, reviews, wishlist, and an admin backend.</a:t>
            </a:r>
            <a:endParaRPr b="0" lang="en-GB" sz="18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12000"/>
              </a:lnSpc>
              <a:spcAft>
                <a:spcPts val="1400"/>
              </a:spcAft>
            </a:pPr>
            <a:r>
              <a:rPr b="1" lang="en-US" sz="1800" spc="-1" strike="noStrike">
                <a:solidFill>
                  <a:srgbClr val="a78bfa"/>
                </a:solidFill>
                <a:latin typeface="Calibri"/>
              </a:rPr>
              <a:t>-  </a:t>
            </a:r>
            <a:r>
              <a:rPr b="0" lang="en-US" sz="1800" spc="-1" strike="noStrike">
                <a:solidFill>
                  <a:srgbClr val="f1eefb"/>
                </a:solidFill>
                <a:latin typeface="Calibri"/>
              </a:rPr>
              <a:t>Real engineering discipline — 77 automated tests, validation against real-world transaction data, and several genuine bugs found and fixed during development rather than glossed over.</a:t>
            </a:r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1" name="Rectangle 7"/>
          <p:cNvSpPr/>
          <p:nvPr/>
        </p:nvSpPr>
        <p:spPr>
          <a:xfrm>
            <a:off x="640080" y="5394960"/>
            <a:ext cx="10881000" cy="14760"/>
          </a:xfrm>
          <a:prstGeom prst="rect">
            <a:avLst/>
          </a:prstGeom>
          <a:solidFill>
            <a:srgbClr val="3a305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9880" bIns="-298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2" name="TextBox 8"/>
          <p:cNvSpPr/>
          <p:nvPr/>
        </p:nvSpPr>
        <p:spPr>
          <a:xfrm>
            <a:off x="640080" y="5623560"/>
            <a:ext cx="10881000" cy="42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i="1" lang="en-US" sz="1400" spc="-1" strike="noStrike">
                <a:solidFill>
                  <a:srgbClr val="8a81ad"/>
                </a:solidFill>
                <a:latin typeface="Calibri"/>
              </a:rPr>
              <a:t>Future scope: an LSTM/deep-learning comparison, a CI pipeline to run the test suite automatically, and production deployment via the included Docker setup.</a:t>
            </a:r>
            <a:endParaRPr b="0" lang="en-GB" sz="1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30f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TextBox 1"/>
          <p:cNvSpPr/>
          <p:nvPr/>
        </p:nvSpPr>
        <p:spPr>
          <a:xfrm>
            <a:off x="640080" y="384120"/>
            <a:ext cx="7314840" cy="19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a78bfa"/>
                </a:solidFill>
                <a:latin typeface="Calibri"/>
              </a:rPr>
              <a:t>TEAM CONTRIBUTION</a:t>
            </a:r>
            <a:endParaRPr b="0" lang="en-GB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4" name="TextBox 2"/>
          <p:cNvSpPr/>
          <p:nvPr/>
        </p:nvSpPr>
        <p:spPr>
          <a:xfrm>
            <a:off x="621720" y="685800"/>
            <a:ext cx="10515240" cy="48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200" spc="-1" strike="noStrike">
                <a:solidFill>
                  <a:srgbClr val="f1eefb"/>
                </a:solidFill>
                <a:latin typeface="Georgia"/>
              </a:rPr>
              <a:t>Who built what</a:t>
            </a:r>
            <a:endParaRPr b="0" lang="en-GB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5" name="Rectangle 3"/>
          <p:cNvSpPr/>
          <p:nvPr/>
        </p:nvSpPr>
        <p:spPr>
          <a:xfrm>
            <a:off x="640080" y="1371600"/>
            <a:ext cx="1005480" cy="37800"/>
          </a:xfrm>
          <a:prstGeom prst="rect">
            <a:avLst/>
          </a:prstGeom>
          <a:solidFill>
            <a:srgbClr val="7c3ae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6840" bIns="-68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6" name="TextBox 4"/>
          <p:cNvSpPr/>
          <p:nvPr/>
        </p:nvSpPr>
        <p:spPr>
          <a:xfrm>
            <a:off x="640080" y="6473880"/>
            <a:ext cx="2742840" cy="16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8a81ad"/>
                </a:solidFill>
                <a:latin typeface="Calibri"/>
              </a:rPr>
              <a:t>PriceSense</a:t>
            </a:r>
            <a:endParaRPr b="0" lang="en-GB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7" name="TextBox 5"/>
          <p:cNvSpPr/>
          <p:nvPr/>
        </p:nvSpPr>
        <p:spPr>
          <a:xfrm>
            <a:off x="10881360" y="6473880"/>
            <a:ext cx="914040" cy="16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8a81ad"/>
                </a:solidFill>
                <a:latin typeface="Calibri"/>
              </a:rPr>
              <a:t>10 / 11</a:t>
            </a:r>
            <a:endParaRPr b="0" lang="en-GB" sz="1100" spc="-1" strike="noStrike">
              <a:solidFill>
                <a:srgbClr val="ffffff"/>
              </a:solidFill>
              <a:latin typeface="Arial"/>
            </a:endParaRPr>
          </a:p>
        </p:txBody>
      </p:sp>
      <p:graphicFrame>
        <p:nvGraphicFramePr>
          <p:cNvPr id="138" name="Table 6"/>
          <p:cNvGraphicFramePr/>
          <p:nvPr/>
        </p:nvGraphicFramePr>
        <p:xfrm>
          <a:off x="3159000" y="1906200"/>
          <a:ext cx="10881000" cy="3291480"/>
        </p:xfrm>
        <a:graphic>
          <a:graphicData uri="http://schemas.openxmlformats.org/drawingml/2006/table">
            <a:tbl>
              <a:tblPr/>
              <a:tblGrid>
                <a:gridCol w="2743200"/>
                <a:gridCol w="3108960"/>
              </a:tblGrid>
              <a:tr h="822960">
                <a:tc>
                  <a:txBody>
                    <a:bodyPr lIns="101520" rIns="101520" tIns="75960" bIns="759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300" spc="-1" strike="noStrike">
                          <a:solidFill>
                            <a:srgbClr val="a78bfa"/>
                          </a:solidFill>
                          <a:latin typeface="Calibri"/>
                        </a:rPr>
                        <a:t>Team Member</a:t>
                      </a:r>
                      <a:endParaRPr b="0" lang="en-GB" sz="1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101520" marR="1015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41d3d"/>
                    </a:solidFill>
                  </a:tcPr>
                </a:tc>
                <a:tc>
                  <a:txBody>
                    <a:bodyPr lIns="101520" rIns="101520" tIns="75960" bIns="759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300" spc="-1" strike="noStrike">
                          <a:solidFill>
                            <a:srgbClr val="a78bfa"/>
                          </a:solidFill>
                          <a:latin typeface="Calibri"/>
                        </a:rPr>
                        <a:t>Percentage </a:t>
                      </a:r>
                      <a:endParaRPr b="0" lang="en-GB" sz="1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101520" marR="1015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41d3d"/>
                    </a:solidFill>
                  </a:tcPr>
                </a:tc>
              </a:tr>
              <a:tr h="822960">
                <a:tc>
                  <a:txBody>
                    <a:bodyPr lIns="101520" rIns="101520" tIns="63360" bIns="63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f1eefb"/>
                          </a:solidFill>
                          <a:latin typeface="Calibri"/>
                        </a:rPr>
                        <a:t>Rabiah Mateen Sayed</a:t>
                      </a:r>
                      <a:endParaRPr b="0" lang="en-GB" sz="1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101520" marR="1015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b1630"/>
                    </a:solidFill>
                  </a:tcPr>
                </a:tc>
                <a:tc>
                  <a:txBody>
                    <a:bodyPr lIns="101520" rIns="101520" tIns="63360" bIns="63360" anchor="ctr">
                      <a:noAutofit/>
                    </a:bodyPr>
                    <a:p>
                      <a:pPr defTabSz="457200">
                        <a:lnSpc>
                          <a:spcPct val="150000"/>
                        </a:lnSpc>
                      </a:pPr>
                      <a:r>
                        <a:rPr b="0" lang="en-US" sz="1300" spc="-1" strike="noStrike">
                          <a:solidFill>
                            <a:srgbClr val="f1eefb"/>
                          </a:solidFill>
                          <a:latin typeface="Calibri"/>
                        </a:rPr>
                        <a:t>%</a:t>
                      </a:r>
                      <a:endParaRPr b="0" lang="en-GB" sz="1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101520" marR="1015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b1630"/>
                    </a:solidFill>
                  </a:tcPr>
                </a:tc>
              </a:tr>
              <a:tr h="822960">
                <a:tc>
                  <a:txBody>
                    <a:bodyPr lIns="101520" rIns="101520" tIns="63360" bIns="63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f1eefb"/>
                          </a:solidFill>
                          <a:latin typeface="Calibri"/>
                        </a:rPr>
                        <a:t>Rajalakshmi Muthu Verrapan</a:t>
                      </a:r>
                      <a:endParaRPr b="0" lang="en-GB" sz="1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101520" marR="1015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30f1f"/>
                    </a:solidFill>
                  </a:tcPr>
                </a:tc>
                <a:tc>
                  <a:txBody>
                    <a:bodyPr lIns="101520" rIns="101520" tIns="63360" bIns="63360" anchor="ctr">
                      <a:noAutofit/>
                    </a:bodyPr>
                    <a:p>
                      <a:pPr defTabSz="457200">
                        <a:lnSpc>
                          <a:spcPct val="150000"/>
                        </a:lnSpc>
                      </a:pPr>
                      <a:r>
                        <a:rPr b="0" lang="en-US" sz="1300" spc="-1" strike="noStrike">
                          <a:solidFill>
                            <a:srgbClr val="f1eefb"/>
                          </a:solidFill>
                          <a:latin typeface="Calibri"/>
                        </a:rPr>
                        <a:t>%</a:t>
                      </a:r>
                      <a:endParaRPr b="0" lang="en-GB" sz="1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101520" marR="1015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30f1f"/>
                    </a:solidFill>
                  </a:tcPr>
                </a:tc>
              </a:tr>
              <a:tr h="822960">
                <a:tc>
                  <a:txBody>
                    <a:bodyPr lIns="101520" rIns="101520" tIns="63360" bIns="63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f1eefb"/>
                          </a:solidFill>
                          <a:latin typeface="Calibri"/>
                        </a:rPr>
                        <a:t>Sahil Shukla</a:t>
                      </a:r>
                      <a:endParaRPr b="0" lang="en-GB" sz="1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101520" marR="1015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b1630"/>
                    </a:solidFill>
                  </a:tcPr>
                </a:tc>
                <a:tc>
                  <a:txBody>
                    <a:bodyPr lIns="101520" rIns="101520" tIns="63360" bIns="63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f1eefb"/>
                          </a:solidFill>
                          <a:latin typeface="Calibri"/>
                        </a:rPr>
                        <a:t>%</a:t>
                      </a:r>
                      <a:endParaRPr b="0" lang="en-GB" sz="1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101520" marR="1015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b1630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30f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Rectangle 1"/>
          <p:cNvSpPr/>
          <p:nvPr/>
        </p:nvSpPr>
        <p:spPr>
          <a:xfrm>
            <a:off x="0" y="0"/>
            <a:ext cx="127800" cy="6857640"/>
          </a:xfrm>
          <a:prstGeom prst="rect">
            <a:avLst/>
          </a:prstGeom>
          <a:solidFill>
            <a:srgbClr val="7c3ae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cxnSp>
        <p:nvCxnSpPr>
          <p:cNvPr id="140" name="Connector 2"/>
          <p:cNvCxnSpPr/>
          <p:nvPr/>
        </p:nvCxnSpPr>
        <p:spPr>
          <a:xfrm>
            <a:off x="4297680" y="2560320"/>
            <a:ext cx="3657960" cy="360"/>
          </a:xfrm>
          <a:prstGeom prst="straightConnector1">
            <a:avLst/>
          </a:prstGeom>
          <a:ln w="12700">
            <a:solidFill>
              <a:srgbClr val="3a305c"/>
            </a:solidFill>
            <a:round/>
          </a:ln>
        </p:spPr>
      </p:cxnSp>
      <p:cxnSp>
        <p:nvCxnSpPr>
          <p:cNvPr id="141" name="Connector 3"/>
          <p:cNvCxnSpPr/>
          <p:nvPr/>
        </p:nvCxnSpPr>
        <p:spPr>
          <a:xfrm flipV="1">
            <a:off x="4297680" y="2312640"/>
            <a:ext cx="304920" cy="99360"/>
          </a:xfrm>
          <a:prstGeom prst="straightConnector1">
            <a:avLst/>
          </a:prstGeom>
          <a:ln w="28575">
            <a:solidFill>
              <a:srgbClr val="7c3aed"/>
            </a:solidFill>
            <a:round/>
          </a:ln>
        </p:spPr>
      </p:cxnSp>
      <p:cxnSp>
        <p:nvCxnSpPr>
          <p:cNvPr id="142" name="Connector 4"/>
          <p:cNvCxnSpPr/>
          <p:nvPr/>
        </p:nvCxnSpPr>
        <p:spPr>
          <a:xfrm>
            <a:off x="4602240" y="2312640"/>
            <a:ext cx="305280" cy="148680"/>
          </a:xfrm>
          <a:prstGeom prst="straightConnector1">
            <a:avLst/>
          </a:prstGeom>
          <a:ln w="28575">
            <a:solidFill>
              <a:srgbClr val="7c3aed"/>
            </a:solidFill>
            <a:round/>
          </a:ln>
        </p:spPr>
      </p:cxnSp>
      <p:cxnSp>
        <p:nvCxnSpPr>
          <p:cNvPr id="143" name="Connector 5"/>
          <p:cNvCxnSpPr/>
          <p:nvPr/>
        </p:nvCxnSpPr>
        <p:spPr>
          <a:xfrm flipV="1">
            <a:off x="4907160" y="2114280"/>
            <a:ext cx="305280" cy="347040"/>
          </a:xfrm>
          <a:prstGeom prst="straightConnector1">
            <a:avLst/>
          </a:prstGeom>
          <a:ln w="28575">
            <a:solidFill>
              <a:srgbClr val="7c3aed"/>
            </a:solidFill>
            <a:round/>
          </a:ln>
        </p:spPr>
      </p:cxnSp>
      <p:cxnSp>
        <p:nvCxnSpPr>
          <p:cNvPr id="144" name="Connector 6"/>
          <p:cNvCxnSpPr/>
          <p:nvPr/>
        </p:nvCxnSpPr>
        <p:spPr>
          <a:xfrm>
            <a:off x="5212080" y="2114280"/>
            <a:ext cx="304920" cy="99360"/>
          </a:xfrm>
          <a:prstGeom prst="straightConnector1">
            <a:avLst/>
          </a:prstGeom>
          <a:ln w="28575">
            <a:solidFill>
              <a:srgbClr val="7c3aed"/>
            </a:solidFill>
            <a:round/>
          </a:ln>
        </p:spPr>
      </p:cxnSp>
      <p:cxnSp>
        <p:nvCxnSpPr>
          <p:cNvPr id="145" name="Connector 7"/>
          <p:cNvCxnSpPr/>
          <p:nvPr/>
        </p:nvCxnSpPr>
        <p:spPr>
          <a:xfrm flipV="1">
            <a:off x="5516640" y="1916280"/>
            <a:ext cx="305280" cy="297360"/>
          </a:xfrm>
          <a:prstGeom prst="straightConnector1">
            <a:avLst/>
          </a:prstGeom>
          <a:ln w="28575">
            <a:solidFill>
              <a:srgbClr val="7c3aed"/>
            </a:solidFill>
            <a:round/>
          </a:ln>
        </p:spPr>
      </p:cxnSp>
      <p:cxnSp>
        <p:nvCxnSpPr>
          <p:cNvPr id="146" name="Connector 8"/>
          <p:cNvCxnSpPr/>
          <p:nvPr/>
        </p:nvCxnSpPr>
        <p:spPr>
          <a:xfrm>
            <a:off x="5821560" y="1916280"/>
            <a:ext cx="305280" cy="69840"/>
          </a:xfrm>
          <a:prstGeom prst="straightConnector1">
            <a:avLst/>
          </a:prstGeom>
          <a:ln w="28575">
            <a:solidFill>
              <a:srgbClr val="7c3aed"/>
            </a:solidFill>
            <a:round/>
          </a:ln>
        </p:spPr>
      </p:cxnSp>
      <p:cxnSp>
        <p:nvCxnSpPr>
          <p:cNvPr id="147" name="Connector 9"/>
          <p:cNvCxnSpPr/>
          <p:nvPr/>
        </p:nvCxnSpPr>
        <p:spPr>
          <a:xfrm flipV="1">
            <a:off x="6126480" y="1787400"/>
            <a:ext cx="304920" cy="198720"/>
          </a:xfrm>
          <a:prstGeom prst="straightConnector1">
            <a:avLst/>
          </a:prstGeom>
          <a:ln w="28575">
            <a:solidFill>
              <a:srgbClr val="4bd4e3"/>
            </a:solidFill>
            <a:prstDash val="dash"/>
            <a:round/>
          </a:ln>
        </p:spPr>
      </p:cxnSp>
      <p:cxnSp>
        <p:nvCxnSpPr>
          <p:cNvPr id="148" name="Connector 10"/>
          <p:cNvCxnSpPr/>
          <p:nvPr/>
        </p:nvCxnSpPr>
        <p:spPr>
          <a:xfrm flipV="1">
            <a:off x="6431040" y="1688400"/>
            <a:ext cx="305280" cy="99360"/>
          </a:xfrm>
          <a:prstGeom prst="straightConnector1">
            <a:avLst/>
          </a:prstGeom>
          <a:ln w="28575">
            <a:solidFill>
              <a:srgbClr val="4bd4e3"/>
            </a:solidFill>
            <a:prstDash val="dash"/>
            <a:round/>
          </a:ln>
        </p:spPr>
      </p:cxnSp>
      <p:cxnSp>
        <p:nvCxnSpPr>
          <p:cNvPr id="149" name="Connector 11"/>
          <p:cNvCxnSpPr/>
          <p:nvPr/>
        </p:nvCxnSpPr>
        <p:spPr>
          <a:xfrm>
            <a:off x="6735960" y="1688400"/>
            <a:ext cx="305280" cy="158760"/>
          </a:xfrm>
          <a:prstGeom prst="straightConnector1">
            <a:avLst/>
          </a:prstGeom>
          <a:ln w="28575">
            <a:solidFill>
              <a:srgbClr val="4bd4e3"/>
            </a:solidFill>
            <a:prstDash val="dash"/>
            <a:round/>
          </a:ln>
        </p:spPr>
      </p:cxnSp>
      <p:cxnSp>
        <p:nvCxnSpPr>
          <p:cNvPr id="150" name="Connector 12"/>
          <p:cNvCxnSpPr/>
          <p:nvPr/>
        </p:nvCxnSpPr>
        <p:spPr>
          <a:xfrm flipV="1">
            <a:off x="7040880" y="1589400"/>
            <a:ext cx="304920" cy="257760"/>
          </a:xfrm>
          <a:prstGeom prst="straightConnector1">
            <a:avLst/>
          </a:prstGeom>
          <a:ln w="28575">
            <a:solidFill>
              <a:srgbClr val="4bd4e3"/>
            </a:solidFill>
            <a:prstDash val="dash"/>
            <a:round/>
          </a:ln>
        </p:spPr>
      </p:cxnSp>
      <p:cxnSp>
        <p:nvCxnSpPr>
          <p:cNvPr id="151" name="Connector 13"/>
          <p:cNvCxnSpPr/>
          <p:nvPr/>
        </p:nvCxnSpPr>
        <p:spPr>
          <a:xfrm>
            <a:off x="7345440" y="1589400"/>
            <a:ext cx="305280" cy="158760"/>
          </a:xfrm>
          <a:prstGeom prst="straightConnector1">
            <a:avLst/>
          </a:prstGeom>
          <a:ln w="28575">
            <a:solidFill>
              <a:srgbClr val="4bd4e3"/>
            </a:solidFill>
            <a:prstDash val="dash"/>
            <a:round/>
          </a:ln>
        </p:spPr>
      </p:cxnSp>
      <p:cxnSp>
        <p:nvCxnSpPr>
          <p:cNvPr id="152" name="Connector 14"/>
          <p:cNvCxnSpPr/>
          <p:nvPr/>
        </p:nvCxnSpPr>
        <p:spPr>
          <a:xfrm flipV="1">
            <a:off x="7650360" y="1519920"/>
            <a:ext cx="305280" cy="228240"/>
          </a:xfrm>
          <a:prstGeom prst="straightConnector1">
            <a:avLst/>
          </a:prstGeom>
          <a:ln w="28575">
            <a:solidFill>
              <a:srgbClr val="4bd4e3"/>
            </a:solidFill>
            <a:prstDash val="dash"/>
            <a:round/>
          </a:ln>
        </p:spPr>
      </p:cxnSp>
      <p:sp>
        <p:nvSpPr>
          <p:cNvPr id="153" name="TextBox 15"/>
          <p:cNvSpPr/>
          <p:nvPr/>
        </p:nvSpPr>
        <p:spPr>
          <a:xfrm>
            <a:off x="0" y="2880360"/>
            <a:ext cx="12191400" cy="82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5400" spc="-1" strike="noStrike">
                <a:solidFill>
                  <a:srgbClr val="f1eefb"/>
                </a:solidFill>
                <a:latin typeface="Georgia"/>
              </a:rPr>
              <a:t>Thank You</a:t>
            </a:r>
            <a:endParaRPr b="0" lang="en-GB" sz="5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4" name="TextBox 16"/>
          <p:cNvSpPr/>
          <p:nvPr/>
        </p:nvSpPr>
        <p:spPr>
          <a:xfrm>
            <a:off x="0" y="3794760"/>
            <a:ext cx="12191400" cy="30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i="1" lang="en-US" sz="2000" spc="-1" strike="noStrike">
                <a:solidFill>
                  <a:srgbClr val="b7afd6"/>
                </a:solidFill>
                <a:latin typeface="Calibri"/>
              </a:rPr>
              <a:t>Questions &amp; Discussion</a:t>
            </a:r>
            <a:endParaRPr b="0" lang="en-GB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5" name="TextBox 17"/>
          <p:cNvSpPr/>
          <p:nvPr/>
        </p:nvSpPr>
        <p:spPr>
          <a:xfrm>
            <a:off x="0" y="6309360"/>
            <a:ext cx="12191400" cy="18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8a81ad"/>
                </a:solidFill>
                <a:latin typeface="Calibri"/>
              </a:rPr>
              <a:t>PriceSense — ML-Driven Predictive Shopping Platform</a:t>
            </a:r>
            <a:endParaRPr b="0" lang="en-GB" sz="1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</TotalTime>
  <Application>LibreOffice/7.6.2.1$Windows_X86_64 LibreOffice_project/56f7684011345957bbf33a7ee678afaf4d2ba333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en-GB</dc:language>
  <cp:lastModifiedBy/>
  <dcterms:modified xsi:type="dcterms:W3CDTF">2026-09-14T15:26:24Z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